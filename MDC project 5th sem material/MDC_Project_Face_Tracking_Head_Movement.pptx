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b8d04bc-dd48-8bbf-1542-bcc1f15df38d}">
          <p14:sldIdLst>
            <p14:sldId id="256"/>
            <p14:sldId id="257"/>
          </p14:sldIdLst>
        </p14:section>
        <p14:section name="Background" id="{b4dd1582-d613-bc09-551b-8c7aec990c0e}">
          <p14:sldIdLst>
            <p14:sldId id="258"/>
            <p14:sldId id="259"/>
            <p14:sldId id="260"/>
            <p14:sldId id="261"/>
          </p14:sldIdLst>
        </p14:section>
        <p14:section name="Design and Build" id="{7cb3f196-3c94-6686-de2c-4488a9d6dbed}">
          <p14:sldIdLst>
            <p14:sldId id="262"/>
            <p14:sldId id="263"/>
            <p14:sldId id="264"/>
            <p14:sldId id="265"/>
            <p14:sldId id="266"/>
          </p14:sldIdLst>
        </p14:section>
        <p14:section name="Outcome" id="{bb708393-8ec1-42b8-2da9-54572301e06f}">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our MDC project on face tracking and head movement detection. It follows a webcam stream, tracks every face, and measures which direction each person is 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of the presentation: background first, then the design and implementation, and finally the results, limitations and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tracking finds faces in a video and follows them. Head movement detection goes one step further and tells us where the person is looking. We built two versions: a lightweight one with OpenCV and a more capable one with MediaPipe.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Detecting a face in one frame is easy. The hard part is keeping the same identity for each person over time, and turning that into something useful such as an attention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objective on the left has a matching technique on the right. We will see each of these in the methodology and implementation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baseline approach is the Haar cascade tracker, which is Version 1 of our own code. It is fast and simple, but it is limited to a single face and has no memory of who it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2 keeps the same goal but adds six things: persistent re-identification, hybrid matching, direction analysis, Kalman prediction, a cumulative dashboard and noise filtering.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webcam frame the system runs the same six steps. The loop ends when the user presses q, and then the report is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main.py is the entry point. It reads the camera, calls the tracker for every frame and draws the live window. face_tracker.py uses kalman_filter.py. When q is pressed, analytics.py turns the session data into the PNG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Python. OpenCV does image work and the Kalman filter, MediaPipe does face detection, NumPy holds the matrices and Matplotlib draws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real direction rule from face_tracker.py. The nose offset is divided by half the box size, so the rule works for any face size. On the right are the main parameters we tuned.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running, the live window shows a green box, the direction, the face ID, the number of direction changes, the confidence and the FPS. On exit the report PNG is saved. Version 2 is more accurate and keeps identities, but needs more RAM than Version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 is that direction is estimated from the nose inside the face box, which is an approximation of head pose. Real head pose angles would be the best next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system tracks several faces, keeps their IDs, handles short occlusions and produces an attention report. The four numbers on the right summarise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for the techniques and libraries used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answer questions, and I can run the live demo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logo.png">    </p:cNvPr>
          <p:cNvPicPr>
            <a:picLocks noChangeAspect="1"/>
          </p:cNvPicPr>
          <p:nvPr/>
        </p:nvPicPr>
        <p:blipFill>
          <a:blip r:embed="rId1"/>
          <a:stretch>
            <a:fillRect/>
          </a:stretch>
        </p:blipFill>
        <p:spPr>
          <a:xfrm>
            <a:off x="10241280" y="274320"/>
            <a:ext cx="1371600" cy="484632"/>
          </a:xfrm>
          <a:prstGeom prst="rect">
            <a:avLst/>
          </a:prstGeom>
        </p:spPr>
      </p:pic>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MDC Project  |  Chatanya Gupta (2024A1R189) &amp; Ankush Dev Singh (224A1R030)  |  Dept. of CSE, MIET</a:t>
            </a:r>
            <a:endParaRPr lang="en-US" sz="1000" dirty="0"/>
          </a:p>
        </p:txBody>
      </p:sp>
      <p:sp>
        <p:nvSpPr>
          <p:cNvPr id="4" name="Text 1"/>
          <p:cNvSpPr/>
          <p:nvPr>
            <p:ph idx="102" type="title" hasCustomPrompt="1"/>
          </p:nvPr>
        </p:nvSpPr>
        <p:spPr>
          <a:xfrm>
            <a:off x="548640" y="640080"/>
            <a:ext cx="950976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A473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accent1"/>
          </a:solidFill>
          <a:ln/>
        </p:spPr>
      </p:sp>
      <p:sp>
        <p:nvSpPr>
          <p:cNvPr id="3" name="Shape 1"/>
          <p:cNvSpPr/>
          <p:nvPr/>
        </p:nvSpPr>
        <p:spPr>
          <a:xfrm>
            <a:off x="548640" y="411480"/>
            <a:ext cx="2286000" cy="868680"/>
          </a:xfrm>
          <a:prstGeom prst="rect">
            <a:avLst>
              <a:gd name="adj" fmla="val 10526"/>
            </a:avLst>
          </a:prstGeom>
          <a:solidFill>
            <a:schemeClr val="bg1"/>
          </a:solidFill>
          <a:ln/>
        </p:spPr>
      </p:sp>
      <p:pic>
        <p:nvPicPr>
          <p:cNvPr id="4" name="Image 0" descr="/home/claude/logo.png">    </p:cNvPr>
          <p:cNvPicPr>
            <a:picLocks noChangeAspect="1"/>
          </p:cNvPicPr>
          <p:nvPr/>
        </p:nvPicPr>
        <p:blipFill>
          <a:blip r:embed="rId1"/>
          <a:stretch>
            <a:fillRect/>
          </a:stretch>
        </p:blipFill>
        <p:spPr>
          <a:xfrm>
            <a:off x="658368" y="502920"/>
            <a:ext cx="2066544" cy="731520"/>
          </a:xfrm>
          <a:prstGeom prst="rect">
            <a:avLst/>
          </a:prstGeom>
        </p:spPr>
      </p:pic>
      <p:sp>
        <p:nvSpPr>
          <p:cNvPr id="5" name="Text 2"/>
          <p:cNvSpPr/>
          <p:nvPr>
            <p:ph idx="103" type="title" hasCustomPrompt="1"/>
          </p:nvPr>
        </p:nvSpPr>
        <p:spPr>
          <a:xfrm>
            <a:off x="548640" y="2148840"/>
            <a:ext cx="67665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ING">
    <p:bg>
      <p:bgPr>
        <a:solidFill>
          <a:srgbClr val="1A473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accent1"/>
          </a:solidFill>
          <a:ln/>
        </p:spPr>
      </p:sp>
      <p:sp>
        <p:nvSpPr>
          <p:cNvPr id="3" name="Shape 1"/>
          <p:cNvSpPr/>
          <p:nvPr/>
        </p:nvSpPr>
        <p:spPr>
          <a:xfrm>
            <a:off x="548640" y="411480"/>
            <a:ext cx="2286000" cy="868680"/>
          </a:xfrm>
          <a:prstGeom prst="rect">
            <a:avLst>
              <a:gd name="adj" fmla="val 10526"/>
            </a:avLst>
          </a:prstGeom>
          <a:solidFill>
            <a:schemeClr val="bg1"/>
          </a:solidFill>
          <a:ln/>
        </p:spPr>
      </p:sp>
      <p:pic>
        <p:nvPicPr>
          <p:cNvPr id="4" name="Image 0" descr="/home/claude/logo.png">    </p:cNvPr>
          <p:cNvPicPr>
            <a:picLocks noChangeAspect="1"/>
          </p:cNvPicPr>
          <p:nvPr/>
        </p:nvPicPr>
        <p:blipFill>
          <a:blip r:embed="rId1"/>
          <a:stretch>
            <a:fillRect/>
          </a:stretch>
        </p:blipFill>
        <p:spPr>
          <a:xfrm>
            <a:off x="658368" y="502920"/>
            <a:ext cx="2066544" cy="731520"/>
          </a:xfrm>
          <a:prstGeom prst="rect">
            <a:avLst/>
          </a:prstGeom>
        </p:spPr>
      </p:pic>
      <p:sp>
        <p:nvSpPr>
          <p:cNvPr id="5" name="Text 2"/>
          <p:cNvSpPr/>
          <p:nvPr>
            <p:ph idx="103" type="title" hasCustomPrompt="1"/>
          </p:nvPr>
        </p:nvSpPr>
        <p:spPr>
          <a:xfrm>
            <a:off x="548640" y="2194560"/>
            <a:ext cx="676656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1645920"/>
            <a:ext cx="6766560" cy="320040"/>
          </a:xfrm>
          <a:prstGeom prst="rect">
            <a:avLst/>
          </a:prstGeom>
          <a:noFill/>
          <a:ln/>
        </p:spPr>
        <p:txBody>
          <a:bodyPr wrap="square" lIns="0" tIns="0" rIns="0" bIns="0" rtlCol="0" anchor="ctr"/>
          <a:lstStyle/>
          <a:p>
            <a:pPr indent="0" marL="0">
              <a:buNone/>
            </a:pPr>
            <a:r>
              <a:rPr lang="en-US" sz="1400" b="1" spc="200" kern="0" dirty="0">
                <a:solidFill>
                  <a:schemeClr val="accent6"/>
                </a:solidFill>
              </a:rPr>
              <a:t>MDC PROJECT PRESENTATION</a:t>
            </a:r>
            <a:endParaRPr lang="en-US" sz="1400" dirty="0"/>
          </a:p>
        </p:txBody>
      </p:sp>
      <p:sp>
        <p:nvSpPr>
          <p:cNvPr id="3" name="Text 2"/>
          <p:cNvSpPr/>
          <p:nvPr>
            <p:ph idx="103" type="title" hasCustomPrompt="1"/>
          </p:nvPr>
        </p:nvSpPr>
        <p:spPr>
          <a:xfrm>
            <a:off x="548640" y="2148840"/>
            <a:ext cx="6766560" cy="2103120"/>
          </a:xfrm>
          <a:prstGeom prst="rect">
            <a:avLst/>
          </a:prstGeom>
          <a:noFill/>
          <a:ln/>
        </p:spPr>
        <p:txBody>
          <a:bodyPr wrap="square" lIns="0" tIns="0" rIns="0" bIns="0" rtlCol="0" anchor="t"/>
          <a:lstStyle/>
          <a:p>
            <a:pPr algn="l" indent="0" marL="0">
              <a:buNone/>
            </a:pPr>
            <a:r>
              <a:rPr lang="en-US" sz="4400" b="1" dirty="0">
                <a:solidFill>
                  <a:schemeClr val="bg1"/>
                </a:solidFill>
              </a:rPr>
              <a:t>Face Tracking and Head Movement Detection</a:t>
            </a:r>
            <a:endParaRPr lang="en-US" sz="4400" dirty="0"/>
          </a:p>
        </p:txBody>
      </p:sp>
      <p:sp>
        <p:nvSpPr>
          <p:cNvPr id="4" name="Subtitle"/>
          <p:cNvSpPr txBox="1"/>
          <p:nvPr/>
        </p:nvSpPr>
        <p:spPr>
          <a:xfrm>
            <a:off x="548640" y="3840480"/>
            <a:ext cx="6583680" cy="685800"/>
          </a:xfrm>
          <a:prstGeom prst="rect">
            <a:avLst/>
          </a:prstGeom>
          <a:noFill/>
          <a:ln/>
        </p:spPr>
        <p:txBody>
          <a:bodyPr wrap="square" lIns="0" tIns="0" rIns="0" bIns="0" rtlCol="0" anchor="t"/>
          <a:lstStyle/>
          <a:p>
            <a:pPr indent="0" marL="0">
              <a:buNone/>
            </a:pPr>
            <a:r>
              <a:rPr lang="en-US" sz="1800" dirty="0">
                <a:solidFill>
                  <a:schemeClr val="bg2"/>
                </a:solidFill>
              </a:rPr>
              <a:t>Multi-face real-time tracker with Kalman filtering and cumulative analytics</a:t>
            </a:r>
            <a:endParaRPr lang="en-US" sz="1800" dirty="0"/>
          </a:p>
        </p:txBody>
      </p:sp>
      <p:sp>
        <p:nvSpPr>
          <p:cNvPr id="5" name="Author block"/>
          <p:cNvSpPr txBox="1"/>
          <p:nvPr/>
        </p:nvSpPr>
        <p:spPr>
          <a:xfrm>
            <a:off x="548640" y="4983480"/>
            <a:ext cx="6949440" cy="128016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Chatanya Gupta  ·  Roll No. 2024A1R189</a:t>
            </a:r>
            <a:endParaRPr lang="en-US" sz="1400" dirty="0"/>
          </a:p>
          <a:p>
            <a:pPr indent="0" marL="0">
              <a:spcAft>
                <a:spcPts val="300"/>
              </a:spcAft>
              <a:buNone/>
            </a:pPr>
            <a:r>
              <a:rPr lang="en-US" sz="1400" b="1" dirty="0">
                <a:solidFill>
                  <a:schemeClr val="bg1"/>
                </a:solidFill>
              </a:rPr>
              <a:t>Ankush Dev Singh  ·  Roll No. 224A1R030</a:t>
            </a:r>
            <a:endParaRPr lang="en-US" sz="1400" dirty="0"/>
          </a:p>
          <a:p>
            <a:pPr indent="0" marL="0">
              <a:spcAft>
                <a:spcPts val="300"/>
              </a:spcAft>
              <a:buNone/>
            </a:pPr>
            <a:r>
              <a:rPr lang="en-US" sz="1400" dirty="0">
                <a:solidFill>
                  <a:schemeClr val="bg2"/>
                </a:solidFill>
              </a:rPr>
              <a:t>B.Tech Computer Science and Engineering</a:t>
            </a:r>
            <a:endParaRPr lang="en-US" sz="1400" dirty="0"/>
          </a:p>
          <a:p>
            <a:pPr indent="0" marL="0">
              <a:spcAft>
                <a:spcPts val="300"/>
              </a:spcAft>
              <a:buNone/>
            </a:pPr>
            <a:r>
              <a:rPr lang="en-US" sz="1400" dirty="0">
                <a:solidFill>
                  <a:schemeClr val="bg2"/>
                </a:solidFill>
              </a:rPr>
              <a:t>Model Institute of Engineering and Technology (Autonomous), Kot Bhalwal, Jammu, India</a:t>
            </a:r>
            <a:endParaRPr lang="en-US" sz="1400" dirty="0"/>
          </a:p>
        </p:txBody>
      </p:sp>
      <p:sp>
        <p:nvSpPr>
          <p:cNvPr id="6" name="Face outline"/>
          <p:cNvSpPr/>
          <p:nvPr/>
        </p:nvSpPr>
        <p:spPr>
          <a:xfrm>
            <a:off x="8458200" y="2286000"/>
            <a:ext cx="1737360" cy="2194560"/>
          </a:xfrm>
          <a:prstGeom prst="ellipse">
            <a:avLst/>
          </a:prstGeom>
          <a:solidFill>
            <a:schemeClr val="accent4"/>
          </a:solidFill>
          <a:ln w="19050">
            <a:solidFill>
              <a:schemeClr val="accent6"/>
            </a:solidFill>
            <a:prstDash val="solid"/>
          </a:ln>
        </p:spPr>
      </p:sp>
      <p:sp>
        <p:nvSpPr>
          <p:cNvPr id="7" name="Eye"/>
          <p:cNvSpPr/>
          <p:nvPr/>
        </p:nvSpPr>
        <p:spPr>
          <a:xfrm>
            <a:off x="8860536" y="2935224"/>
            <a:ext cx="164592" cy="164592"/>
          </a:xfrm>
          <a:prstGeom prst="ellipse">
            <a:avLst/>
          </a:prstGeom>
          <a:solidFill>
            <a:schemeClr val="bg2"/>
          </a:solidFill>
          <a:ln/>
        </p:spPr>
      </p:sp>
      <p:sp>
        <p:nvSpPr>
          <p:cNvPr id="8" name="Eye"/>
          <p:cNvSpPr/>
          <p:nvPr/>
        </p:nvSpPr>
        <p:spPr>
          <a:xfrm>
            <a:off x="9628632" y="2935224"/>
            <a:ext cx="164592" cy="164592"/>
          </a:xfrm>
          <a:prstGeom prst="ellipse">
            <a:avLst/>
          </a:prstGeom>
          <a:solidFill>
            <a:schemeClr val="bg2"/>
          </a:solidFill>
          <a:ln/>
        </p:spPr>
      </p:sp>
      <p:sp>
        <p:nvSpPr>
          <p:cNvPr id="9" name="Nose keypoint"/>
          <p:cNvSpPr/>
          <p:nvPr/>
        </p:nvSpPr>
        <p:spPr>
          <a:xfrm>
            <a:off x="9235440" y="3429000"/>
            <a:ext cx="182880" cy="182880"/>
          </a:xfrm>
          <a:prstGeom prst="ellipse">
            <a:avLst/>
          </a:prstGeom>
          <a:solidFill>
            <a:schemeClr val="accent2"/>
          </a:solidFill>
          <a:ln/>
        </p:spPr>
      </p:sp>
      <p:sp>
        <p:nvSpPr>
          <p:cNvPr id="10" name="Frame corner"/>
          <p:cNvSpPr/>
          <p:nvPr/>
        </p:nvSpPr>
        <p:spPr>
          <a:xfrm>
            <a:off x="7955280" y="2011680"/>
            <a:ext cx="548640" cy="0"/>
          </a:xfrm>
          <a:prstGeom prst="line">
            <a:avLst/>
          </a:prstGeom>
          <a:noFill/>
          <a:ln w="38100">
            <a:solidFill>
              <a:schemeClr val="accent6"/>
            </a:solidFill>
            <a:prstDash val="solid"/>
          </a:ln>
        </p:spPr>
      </p:sp>
      <p:sp>
        <p:nvSpPr>
          <p:cNvPr id="11" name="Frame corner"/>
          <p:cNvSpPr/>
          <p:nvPr/>
        </p:nvSpPr>
        <p:spPr>
          <a:xfrm>
            <a:off x="7955280" y="2011680"/>
            <a:ext cx="0" cy="548640"/>
          </a:xfrm>
          <a:prstGeom prst="line">
            <a:avLst/>
          </a:prstGeom>
          <a:noFill/>
          <a:ln w="38100">
            <a:solidFill>
              <a:schemeClr val="accent6"/>
            </a:solidFill>
            <a:prstDash val="solid"/>
          </a:ln>
        </p:spPr>
      </p:sp>
      <p:sp>
        <p:nvSpPr>
          <p:cNvPr id="12" name="Frame corner"/>
          <p:cNvSpPr/>
          <p:nvPr/>
        </p:nvSpPr>
        <p:spPr>
          <a:xfrm>
            <a:off x="10149840" y="2011680"/>
            <a:ext cx="548640" cy="0"/>
          </a:xfrm>
          <a:prstGeom prst="line">
            <a:avLst/>
          </a:prstGeom>
          <a:noFill/>
          <a:ln w="38100">
            <a:solidFill>
              <a:schemeClr val="accent6"/>
            </a:solidFill>
            <a:prstDash val="solid"/>
          </a:ln>
        </p:spPr>
      </p:sp>
      <p:sp>
        <p:nvSpPr>
          <p:cNvPr id="13" name="Frame corner"/>
          <p:cNvSpPr/>
          <p:nvPr/>
        </p:nvSpPr>
        <p:spPr>
          <a:xfrm>
            <a:off x="10698480" y="2011680"/>
            <a:ext cx="0" cy="548640"/>
          </a:xfrm>
          <a:prstGeom prst="line">
            <a:avLst/>
          </a:prstGeom>
          <a:noFill/>
          <a:ln w="38100">
            <a:solidFill>
              <a:schemeClr val="accent6"/>
            </a:solidFill>
            <a:prstDash val="solid"/>
          </a:ln>
        </p:spPr>
      </p:sp>
      <p:sp>
        <p:nvSpPr>
          <p:cNvPr id="14" name="Frame corner"/>
          <p:cNvSpPr/>
          <p:nvPr/>
        </p:nvSpPr>
        <p:spPr>
          <a:xfrm>
            <a:off x="7955280" y="4754880"/>
            <a:ext cx="548640" cy="0"/>
          </a:xfrm>
          <a:prstGeom prst="line">
            <a:avLst/>
          </a:prstGeom>
          <a:noFill/>
          <a:ln w="38100">
            <a:solidFill>
              <a:schemeClr val="accent6"/>
            </a:solidFill>
            <a:prstDash val="solid"/>
          </a:ln>
        </p:spPr>
      </p:sp>
      <p:sp>
        <p:nvSpPr>
          <p:cNvPr id="15" name="Frame corner"/>
          <p:cNvSpPr/>
          <p:nvPr/>
        </p:nvSpPr>
        <p:spPr>
          <a:xfrm>
            <a:off x="7955280" y="4206240"/>
            <a:ext cx="0" cy="548640"/>
          </a:xfrm>
          <a:prstGeom prst="line">
            <a:avLst/>
          </a:prstGeom>
          <a:noFill/>
          <a:ln w="38100">
            <a:solidFill>
              <a:schemeClr val="accent6"/>
            </a:solidFill>
            <a:prstDash val="solid"/>
          </a:ln>
        </p:spPr>
      </p:sp>
      <p:sp>
        <p:nvSpPr>
          <p:cNvPr id="16" name="Frame corner"/>
          <p:cNvSpPr/>
          <p:nvPr/>
        </p:nvSpPr>
        <p:spPr>
          <a:xfrm>
            <a:off x="10149840" y="4754880"/>
            <a:ext cx="548640" cy="0"/>
          </a:xfrm>
          <a:prstGeom prst="line">
            <a:avLst/>
          </a:prstGeom>
          <a:noFill/>
          <a:ln w="38100">
            <a:solidFill>
              <a:schemeClr val="accent6"/>
            </a:solidFill>
            <a:prstDash val="solid"/>
          </a:ln>
        </p:spPr>
      </p:sp>
      <p:sp>
        <p:nvSpPr>
          <p:cNvPr id="17" name="Frame corner"/>
          <p:cNvSpPr/>
          <p:nvPr/>
        </p:nvSpPr>
        <p:spPr>
          <a:xfrm>
            <a:off x="10698480" y="4206240"/>
            <a:ext cx="0" cy="548640"/>
          </a:xfrm>
          <a:prstGeom prst="line">
            <a:avLst/>
          </a:prstGeom>
          <a:noFill/>
          <a:ln w="38100">
            <a:solidFill>
              <a:schemeClr val="accent6"/>
            </a:solidFill>
            <a:prstDash val="solid"/>
          </a:ln>
        </p:spPr>
      </p:sp>
      <p:sp>
        <p:nvSpPr>
          <p:cNvPr id="18" name="Direction label"/>
          <p:cNvSpPr txBox="1"/>
          <p:nvPr/>
        </p:nvSpPr>
        <p:spPr>
          <a:xfrm>
            <a:off x="8869680" y="1554480"/>
            <a:ext cx="914400" cy="274320"/>
          </a:xfrm>
          <a:prstGeom prst="rect">
            <a:avLst/>
          </a:prstGeom>
          <a:noFill/>
          <a:ln/>
        </p:spPr>
        <p:txBody>
          <a:bodyPr wrap="square" lIns="0" tIns="0" rIns="0" bIns="0" rtlCol="0" anchor="ctr"/>
          <a:lstStyle/>
          <a:p>
            <a:pPr algn="ctr" indent="0" marL="0">
              <a:buNone/>
            </a:pPr>
            <a:r>
              <a:rPr lang="en-US" sz="1200" b="1" dirty="0">
                <a:solidFill>
                  <a:schemeClr val="accent6"/>
                </a:solidFill>
              </a:rPr>
              <a:t>UP</a:t>
            </a:r>
            <a:endParaRPr lang="en-US" sz="1200" dirty="0"/>
          </a:p>
        </p:txBody>
      </p:sp>
      <p:sp>
        <p:nvSpPr>
          <p:cNvPr id="19" name="Direction label"/>
          <p:cNvSpPr txBox="1"/>
          <p:nvPr/>
        </p:nvSpPr>
        <p:spPr>
          <a:xfrm>
            <a:off x="8869680" y="4937760"/>
            <a:ext cx="914400" cy="274320"/>
          </a:xfrm>
          <a:prstGeom prst="rect">
            <a:avLst/>
          </a:prstGeom>
          <a:noFill/>
          <a:ln/>
        </p:spPr>
        <p:txBody>
          <a:bodyPr wrap="square" lIns="0" tIns="0" rIns="0" bIns="0" rtlCol="0" anchor="ctr"/>
          <a:lstStyle/>
          <a:p>
            <a:pPr algn="ctr" indent="0" marL="0">
              <a:buNone/>
            </a:pPr>
            <a:r>
              <a:rPr lang="en-US" sz="1200" b="1" dirty="0">
                <a:solidFill>
                  <a:schemeClr val="accent6"/>
                </a:solidFill>
              </a:rPr>
              <a:t>DOWN</a:t>
            </a:r>
            <a:endParaRPr lang="en-US" sz="1200" dirty="0"/>
          </a:p>
        </p:txBody>
      </p:sp>
      <p:sp>
        <p:nvSpPr>
          <p:cNvPr id="20" name="Direction label"/>
          <p:cNvSpPr txBox="1"/>
          <p:nvPr/>
        </p:nvSpPr>
        <p:spPr>
          <a:xfrm>
            <a:off x="6995160" y="3246120"/>
            <a:ext cx="914400" cy="274320"/>
          </a:xfrm>
          <a:prstGeom prst="rect">
            <a:avLst/>
          </a:prstGeom>
          <a:noFill/>
          <a:ln/>
        </p:spPr>
        <p:txBody>
          <a:bodyPr wrap="square" lIns="0" tIns="0" rIns="0" bIns="0" rtlCol="0" anchor="ctr"/>
          <a:lstStyle/>
          <a:p>
            <a:pPr algn="ctr" indent="0" marL="0">
              <a:buNone/>
            </a:pPr>
            <a:r>
              <a:rPr lang="en-US" sz="1200" b="1" dirty="0">
                <a:solidFill>
                  <a:schemeClr val="accent6"/>
                </a:solidFill>
              </a:rPr>
              <a:t>LEFT</a:t>
            </a:r>
            <a:endParaRPr lang="en-US" sz="1200" dirty="0"/>
          </a:p>
        </p:txBody>
      </p:sp>
      <p:sp>
        <p:nvSpPr>
          <p:cNvPr id="21" name="Direction label"/>
          <p:cNvSpPr txBox="1"/>
          <p:nvPr/>
        </p:nvSpPr>
        <p:spPr>
          <a:xfrm>
            <a:off x="10744200" y="3246120"/>
            <a:ext cx="914400" cy="274320"/>
          </a:xfrm>
          <a:prstGeom prst="rect">
            <a:avLst/>
          </a:prstGeom>
          <a:noFill/>
          <a:ln/>
        </p:spPr>
        <p:txBody>
          <a:bodyPr wrap="square" lIns="0" tIns="0" rIns="0" bIns="0" rtlCol="0" anchor="ctr"/>
          <a:lstStyle/>
          <a:p>
            <a:pPr algn="ctr" indent="0" marL="0">
              <a:buNone/>
            </a:pPr>
            <a:r>
              <a:rPr lang="en-US" sz="1200" b="1" dirty="0">
                <a:solidFill>
                  <a:schemeClr val="accent6"/>
                </a:solidFill>
              </a:rPr>
              <a:t>RIGHT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Table of Contents</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AGENDA</a:t>
            </a:r>
            <a:endParaRPr lang="en-US" sz="1200" dirty="0"/>
          </a:p>
        </p:txBody>
      </p:sp>
      <p:sp>
        <p:nvSpPr>
          <p:cNvPr id="5" name="TOC row"/>
          <p:cNvSpPr/>
          <p:nvPr/>
        </p:nvSpPr>
        <p:spPr>
          <a:xfrm>
            <a:off x="548640" y="1691640"/>
            <a:ext cx="5394960" cy="530352"/>
          </a:xfrm>
          <a:prstGeom prst="roundRect">
            <a:avLst>
              <a:gd name="adj" fmla="val 17241"/>
            </a:avLst>
          </a:prstGeom>
          <a:solidFill>
            <a:srgbClr val="F3EBD8"/>
          </a:solidFill>
          <a:ln/>
        </p:spPr>
      </p:sp>
      <p:sp>
        <p:nvSpPr>
          <p:cNvPr id="6" name="TOC number"/>
          <p:cNvSpPr txBox="1"/>
          <p:nvPr/>
        </p:nvSpPr>
        <p:spPr>
          <a:xfrm>
            <a:off x="731520" y="1691640"/>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03</a:t>
            </a:r>
            <a:endParaRPr lang="en-US" sz="1600" dirty="0"/>
          </a:p>
        </p:txBody>
      </p:sp>
      <p:sp>
        <p:nvSpPr>
          <p:cNvPr id="7" name="TOC title"/>
          <p:cNvSpPr txBox="1"/>
          <p:nvPr/>
        </p:nvSpPr>
        <p:spPr>
          <a:xfrm>
            <a:off x="1371600" y="1691640"/>
            <a:ext cx="4389120" cy="530352"/>
          </a:xfrm>
          <a:prstGeom prst="rect">
            <a:avLst/>
          </a:prstGeom>
          <a:noFill/>
          <a:ln/>
        </p:spPr>
        <p:txBody>
          <a:bodyPr wrap="square" lIns="0" tIns="0" rIns="0" bIns="0" rtlCol="0" anchor="ctr"/>
          <a:lstStyle/>
          <a:p>
            <a:pPr indent="0" marL="0">
              <a:buNone/>
            </a:pPr>
            <a:r>
              <a:rPr lang="en-US" sz="1600" dirty="0">
                <a:solidFill>
                  <a:schemeClr val="tx1"/>
                </a:solidFill>
              </a:rPr>
              <a:t>Introduction</a:t>
            </a:r>
            <a:endParaRPr lang="en-US" sz="1600" dirty="0"/>
          </a:p>
        </p:txBody>
      </p:sp>
      <p:sp>
        <p:nvSpPr>
          <p:cNvPr id="8" name="TOC row"/>
          <p:cNvSpPr/>
          <p:nvPr/>
        </p:nvSpPr>
        <p:spPr>
          <a:xfrm>
            <a:off x="548640" y="2350008"/>
            <a:ext cx="5394960" cy="530352"/>
          </a:xfrm>
          <a:prstGeom prst="roundRect">
            <a:avLst>
              <a:gd name="adj" fmla="val 17241"/>
            </a:avLst>
          </a:prstGeom>
          <a:solidFill>
            <a:srgbClr val="F3EBD8"/>
          </a:solidFill>
          <a:ln/>
        </p:spPr>
      </p:sp>
      <p:sp>
        <p:nvSpPr>
          <p:cNvPr id="9" name="TOC number"/>
          <p:cNvSpPr txBox="1"/>
          <p:nvPr/>
        </p:nvSpPr>
        <p:spPr>
          <a:xfrm>
            <a:off x="731520" y="2350008"/>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04</a:t>
            </a:r>
            <a:endParaRPr lang="en-US" sz="1600" dirty="0"/>
          </a:p>
        </p:txBody>
      </p:sp>
      <p:sp>
        <p:nvSpPr>
          <p:cNvPr id="10" name="TOC title"/>
          <p:cNvSpPr txBox="1"/>
          <p:nvPr/>
        </p:nvSpPr>
        <p:spPr>
          <a:xfrm>
            <a:off x="1371600" y="2350008"/>
            <a:ext cx="4389120" cy="530352"/>
          </a:xfrm>
          <a:prstGeom prst="rect">
            <a:avLst/>
          </a:prstGeom>
          <a:noFill/>
          <a:ln/>
        </p:spPr>
        <p:txBody>
          <a:bodyPr wrap="square" lIns="0" tIns="0" rIns="0" bIns="0" rtlCol="0" anchor="ctr"/>
          <a:lstStyle/>
          <a:p>
            <a:pPr indent="0" marL="0">
              <a:buNone/>
            </a:pPr>
            <a:r>
              <a:rPr lang="en-US" sz="1600" dirty="0">
                <a:solidFill>
                  <a:schemeClr val="tx1"/>
                </a:solidFill>
              </a:rPr>
              <a:t>Problem Statement</a:t>
            </a:r>
            <a:endParaRPr lang="en-US" sz="1600" dirty="0"/>
          </a:p>
        </p:txBody>
      </p:sp>
      <p:sp>
        <p:nvSpPr>
          <p:cNvPr id="11" name="TOC row"/>
          <p:cNvSpPr/>
          <p:nvPr/>
        </p:nvSpPr>
        <p:spPr>
          <a:xfrm>
            <a:off x="548640" y="3008376"/>
            <a:ext cx="5394960" cy="530352"/>
          </a:xfrm>
          <a:prstGeom prst="roundRect">
            <a:avLst>
              <a:gd name="adj" fmla="val 17241"/>
            </a:avLst>
          </a:prstGeom>
          <a:solidFill>
            <a:srgbClr val="F3EBD8"/>
          </a:solidFill>
          <a:ln/>
        </p:spPr>
      </p:sp>
      <p:sp>
        <p:nvSpPr>
          <p:cNvPr id="12" name="TOC number"/>
          <p:cNvSpPr txBox="1"/>
          <p:nvPr/>
        </p:nvSpPr>
        <p:spPr>
          <a:xfrm>
            <a:off x="731520" y="3008376"/>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05</a:t>
            </a:r>
            <a:endParaRPr lang="en-US" sz="1600" dirty="0"/>
          </a:p>
        </p:txBody>
      </p:sp>
      <p:sp>
        <p:nvSpPr>
          <p:cNvPr id="13" name="TOC title"/>
          <p:cNvSpPr txBox="1"/>
          <p:nvPr/>
        </p:nvSpPr>
        <p:spPr>
          <a:xfrm>
            <a:off x="1371600" y="3008376"/>
            <a:ext cx="4389120" cy="530352"/>
          </a:xfrm>
          <a:prstGeom prst="rect">
            <a:avLst/>
          </a:prstGeom>
          <a:noFill/>
          <a:ln/>
        </p:spPr>
        <p:txBody>
          <a:bodyPr wrap="square" lIns="0" tIns="0" rIns="0" bIns="0" rtlCol="0" anchor="ctr"/>
          <a:lstStyle/>
          <a:p>
            <a:pPr indent="0" marL="0">
              <a:buNone/>
            </a:pPr>
            <a:r>
              <a:rPr lang="en-US" sz="1600" dirty="0">
                <a:solidFill>
                  <a:schemeClr val="tx1"/>
                </a:solidFill>
              </a:rPr>
              <a:t>Objectives</a:t>
            </a:r>
            <a:endParaRPr lang="en-US" sz="1600" dirty="0"/>
          </a:p>
        </p:txBody>
      </p:sp>
      <p:sp>
        <p:nvSpPr>
          <p:cNvPr id="14" name="TOC row"/>
          <p:cNvSpPr/>
          <p:nvPr/>
        </p:nvSpPr>
        <p:spPr>
          <a:xfrm>
            <a:off x="548640" y="3666744"/>
            <a:ext cx="5394960" cy="530352"/>
          </a:xfrm>
          <a:prstGeom prst="roundRect">
            <a:avLst>
              <a:gd name="adj" fmla="val 17241"/>
            </a:avLst>
          </a:prstGeom>
          <a:solidFill>
            <a:srgbClr val="F3EBD8"/>
          </a:solidFill>
          <a:ln/>
        </p:spPr>
      </p:sp>
      <p:sp>
        <p:nvSpPr>
          <p:cNvPr id="15" name="TOC number"/>
          <p:cNvSpPr txBox="1"/>
          <p:nvPr/>
        </p:nvSpPr>
        <p:spPr>
          <a:xfrm>
            <a:off x="731520" y="3666744"/>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06</a:t>
            </a:r>
            <a:endParaRPr lang="en-US" sz="1600" dirty="0"/>
          </a:p>
        </p:txBody>
      </p:sp>
      <p:sp>
        <p:nvSpPr>
          <p:cNvPr id="16" name="TOC title"/>
          <p:cNvSpPr txBox="1"/>
          <p:nvPr/>
        </p:nvSpPr>
        <p:spPr>
          <a:xfrm>
            <a:off x="1371600" y="3666744"/>
            <a:ext cx="4389120" cy="530352"/>
          </a:xfrm>
          <a:prstGeom prst="rect">
            <a:avLst/>
          </a:prstGeom>
          <a:noFill/>
          <a:ln/>
        </p:spPr>
        <p:txBody>
          <a:bodyPr wrap="square" lIns="0" tIns="0" rIns="0" bIns="0" rtlCol="0" anchor="ctr"/>
          <a:lstStyle/>
          <a:p>
            <a:pPr indent="0" marL="0">
              <a:buNone/>
            </a:pPr>
            <a:r>
              <a:rPr lang="en-US" sz="1600" dirty="0">
                <a:solidFill>
                  <a:schemeClr val="tx1"/>
                </a:solidFill>
              </a:rPr>
              <a:t>Existing System</a:t>
            </a:r>
            <a:endParaRPr lang="en-US" sz="1600" dirty="0"/>
          </a:p>
        </p:txBody>
      </p:sp>
      <p:sp>
        <p:nvSpPr>
          <p:cNvPr id="17" name="TOC row"/>
          <p:cNvSpPr/>
          <p:nvPr/>
        </p:nvSpPr>
        <p:spPr>
          <a:xfrm>
            <a:off x="548640" y="4325112"/>
            <a:ext cx="5394960" cy="530352"/>
          </a:xfrm>
          <a:prstGeom prst="roundRect">
            <a:avLst>
              <a:gd name="adj" fmla="val 17241"/>
            </a:avLst>
          </a:prstGeom>
          <a:solidFill>
            <a:srgbClr val="F3EBD8"/>
          </a:solidFill>
          <a:ln/>
        </p:spPr>
      </p:sp>
      <p:sp>
        <p:nvSpPr>
          <p:cNvPr id="18" name="TOC number"/>
          <p:cNvSpPr txBox="1"/>
          <p:nvPr/>
        </p:nvSpPr>
        <p:spPr>
          <a:xfrm>
            <a:off x="731520" y="4325112"/>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07</a:t>
            </a:r>
            <a:endParaRPr lang="en-US" sz="1600" dirty="0"/>
          </a:p>
        </p:txBody>
      </p:sp>
      <p:sp>
        <p:nvSpPr>
          <p:cNvPr id="19" name="TOC title"/>
          <p:cNvSpPr txBox="1"/>
          <p:nvPr/>
        </p:nvSpPr>
        <p:spPr>
          <a:xfrm>
            <a:off x="1371600" y="4325112"/>
            <a:ext cx="4389120" cy="530352"/>
          </a:xfrm>
          <a:prstGeom prst="rect">
            <a:avLst/>
          </a:prstGeom>
          <a:noFill/>
          <a:ln/>
        </p:spPr>
        <p:txBody>
          <a:bodyPr wrap="square" lIns="0" tIns="0" rIns="0" bIns="0" rtlCol="0" anchor="ctr"/>
          <a:lstStyle/>
          <a:p>
            <a:pPr indent="0" marL="0">
              <a:buNone/>
            </a:pPr>
            <a:r>
              <a:rPr lang="en-US" sz="1600" dirty="0">
                <a:solidFill>
                  <a:schemeClr val="tx1"/>
                </a:solidFill>
              </a:rPr>
              <a:t>Proposed System</a:t>
            </a:r>
            <a:endParaRPr lang="en-US" sz="1600" dirty="0"/>
          </a:p>
        </p:txBody>
      </p:sp>
      <p:sp>
        <p:nvSpPr>
          <p:cNvPr id="20" name="TOC row"/>
          <p:cNvSpPr/>
          <p:nvPr/>
        </p:nvSpPr>
        <p:spPr>
          <a:xfrm>
            <a:off x="548640" y="4983480"/>
            <a:ext cx="5394960" cy="530352"/>
          </a:xfrm>
          <a:prstGeom prst="roundRect">
            <a:avLst>
              <a:gd name="adj" fmla="val 17241"/>
            </a:avLst>
          </a:prstGeom>
          <a:solidFill>
            <a:srgbClr val="F3EBD8"/>
          </a:solidFill>
          <a:ln/>
        </p:spPr>
      </p:sp>
      <p:sp>
        <p:nvSpPr>
          <p:cNvPr id="21" name="TOC number"/>
          <p:cNvSpPr txBox="1"/>
          <p:nvPr/>
        </p:nvSpPr>
        <p:spPr>
          <a:xfrm>
            <a:off x="731520" y="4983480"/>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08</a:t>
            </a:r>
            <a:endParaRPr lang="en-US" sz="1600" dirty="0"/>
          </a:p>
        </p:txBody>
      </p:sp>
      <p:sp>
        <p:nvSpPr>
          <p:cNvPr id="22" name="TOC title"/>
          <p:cNvSpPr txBox="1"/>
          <p:nvPr/>
        </p:nvSpPr>
        <p:spPr>
          <a:xfrm>
            <a:off x="1371600" y="4983480"/>
            <a:ext cx="4389120" cy="530352"/>
          </a:xfrm>
          <a:prstGeom prst="rect">
            <a:avLst/>
          </a:prstGeom>
          <a:noFill/>
          <a:ln/>
        </p:spPr>
        <p:txBody>
          <a:bodyPr wrap="square" lIns="0" tIns="0" rIns="0" bIns="0" rtlCol="0" anchor="ctr"/>
          <a:lstStyle/>
          <a:p>
            <a:pPr indent="0" marL="0">
              <a:buNone/>
            </a:pPr>
            <a:r>
              <a:rPr lang="en-US" sz="1600" dirty="0">
                <a:solidFill>
                  <a:schemeClr val="tx1"/>
                </a:solidFill>
              </a:rPr>
              <a:t>Methodology</a:t>
            </a:r>
            <a:endParaRPr lang="en-US" sz="1600" dirty="0"/>
          </a:p>
        </p:txBody>
      </p:sp>
      <p:sp>
        <p:nvSpPr>
          <p:cNvPr id="23" name="TOC row"/>
          <p:cNvSpPr/>
          <p:nvPr/>
        </p:nvSpPr>
        <p:spPr>
          <a:xfrm>
            <a:off x="548640" y="5641848"/>
            <a:ext cx="5394960" cy="530352"/>
          </a:xfrm>
          <a:prstGeom prst="roundRect">
            <a:avLst>
              <a:gd name="adj" fmla="val 17241"/>
            </a:avLst>
          </a:prstGeom>
          <a:solidFill>
            <a:srgbClr val="F3EBD8"/>
          </a:solidFill>
          <a:ln/>
        </p:spPr>
      </p:sp>
      <p:sp>
        <p:nvSpPr>
          <p:cNvPr id="24" name="TOC number"/>
          <p:cNvSpPr txBox="1"/>
          <p:nvPr/>
        </p:nvSpPr>
        <p:spPr>
          <a:xfrm>
            <a:off x="731520" y="5641848"/>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09</a:t>
            </a:r>
            <a:endParaRPr lang="en-US" sz="1600" dirty="0"/>
          </a:p>
        </p:txBody>
      </p:sp>
      <p:sp>
        <p:nvSpPr>
          <p:cNvPr id="25" name="TOC title"/>
          <p:cNvSpPr txBox="1"/>
          <p:nvPr/>
        </p:nvSpPr>
        <p:spPr>
          <a:xfrm>
            <a:off x="1371600" y="5641848"/>
            <a:ext cx="4389120" cy="530352"/>
          </a:xfrm>
          <a:prstGeom prst="rect">
            <a:avLst/>
          </a:prstGeom>
          <a:noFill/>
          <a:ln/>
        </p:spPr>
        <p:txBody>
          <a:bodyPr wrap="square" lIns="0" tIns="0" rIns="0" bIns="0" rtlCol="0" anchor="ctr"/>
          <a:lstStyle/>
          <a:p>
            <a:pPr indent="0" marL="0">
              <a:buNone/>
            </a:pPr>
            <a:r>
              <a:rPr lang="en-US" sz="1600" dirty="0">
                <a:solidFill>
                  <a:schemeClr val="tx1"/>
                </a:solidFill>
              </a:rPr>
              <a:t>System Design / Architecture</a:t>
            </a:r>
            <a:endParaRPr lang="en-US" sz="1600" dirty="0"/>
          </a:p>
        </p:txBody>
      </p:sp>
      <p:sp>
        <p:nvSpPr>
          <p:cNvPr id="26" name="TOC row"/>
          <p:cNvSpPr/>
          <p:nvPr/>
        </p:nvSpPr>
        <p:spPr>
          <a:xfrm>
            <a:off x="6217920" y="1691640"/>
            <a:ext cx="5394960" cy="530352"/>
          </a:xfrm>
          <a:prstGeom prst="roundRect">
            <a:avLst>
              <a:gd name="adj" fmla="val 17241"/>
            </a:avLst>
          </a:prstGeom>
          <a:solidFill>
            <a:srgbClr val="F3EBD8"/>
          </a:solidFill>
          <a:ln/>
        </p:spPr>
      </p:sp>
      <p:sp>
        <p:nvSpPr>
          <p:cNvPr id="27" name="TOC number"/>
          <p:cNvSpPr txBox="1"/>
          <p:nvPr/>
        </p:nvSpPr>
        <p:spPr>
          <a:xfrm>
            <a:off x="6400800" y="1691640"/>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10</a:t>
            </a:r>
            <a:endParaRPr lang="en-US" sz="1600" dirty="0"/>
          </a:p>
        </p:txBody>
      </p:sp>
      <p:sp>
        <p:nvSpPr>
          <p:cNvPr id="28" name="TOC title"/>
          <p:cNvSpPr txBox="1"/>
          <p:nvPr/>
        </p:nvSpPr>
        <p:spPr>
          <a:xfrm>
            <a:off x="7040880" y="1691640"/>
            <a:ext cx="4389120" cy="530352"/>
          </a:xfrm>
          <a:prstGeom prst="rect">
            <a:avLst/>
          </a:prstGeom>
          <a:noFill/>
          <a:ln/>
        </p:spPr>
        <p:txBody>
          <a:bodyPr wrap="square" lIns="0" tIns="0" rIns="0" bIns="0" rtlCol="0" anchor="ctr"/>
          <a:lstStyle/>
          <a:p>
            <a:pPr indent="0" marL="0">
              <a:buNone/>
            </a:pPr>
            <a:r>
              <a:rPr lang="en-US" sz="1600" dirty="0">
                <a:solidFill>
                  <a:schemeClr val="tx1"/>
                </a:solidFill>
              </a:rPr>
              <a:t>Tools and Technologies Used</a:t>
            </a:r>
            <a:endParaRPr lang="en-US" sz="1600" dirty="0"/>
          </a:p>
        </p:txBody>
      </p:sp>
      <p:sp>
        <p:nvSpPr>
          <p:cNvPr id="29" name="TOC row"/>
          <p:cNvSpPr/>
          <p:nvPr/>
        </p:nvSpPr>
        <p:spPr>
          <a:xfrm>
            <a:off x="6217920" y="2350008"/>
            <a:ext cx="5394960" cy="530352"/>
          </a:xfrm>
          <a:prstGeom prst="roundRect">
            <a:avLst>
              <a:gd name="adj" fmla="val 17241"/>
            </a:avLst>
          </a:prstGeom>
          <a:solidFill>
            <a:srgbClr val="F3EBD8"/>
          </a:solidFill>
          <a:ln/>
        </p:spPr>
      </p:sp>
      <p:sp>
        <p:nvSpPr>
          <p:cNvPr id="30" name="TOC number"/>
          <p:cNvSpPr txBox="1"/>
          <p:nvPr/>
        </p:nvSpPr>
        <p:spPr>
          <a:xfrm>
            <a:off x="6400800" y="2350008"/>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11</a:t>
            </a:r>
            <a:endParaRPr lang="en-US" sz="1600" dirty="0"/>
          </a:p>
        </p:txBody>
      </p:sp>
      <p:sp>
        <p:nvSpPr>
          <p:cNvPr id="31" name="TOC title"/>
          <p:cNvSpPr txBox="1"/>
          <p:nvPr/>
        </p:nvSpPr>
        <p:spPr>
          <a:xfrm>
            <a:off x="7040880" y="2350008"/>
            <a:ext cx="4389120" cy="530352"/>
          </a:xfrm>
          <a:prstGeom prst="rect">
            <a:avLst/>
          </a:prstGeom>
          <a:noFill/>
          <a:ln/>
        </p:spPr>
        <p:txBody>
          <a:bodyPr wrap="square" lIns="0" tIns="0" rIns="0" bIns="0" rtlCol="0" anchor="ctr"/>
          <a:lstStyle/>
          <a:p>
            <a:pPr indent="0" marL="0">
              <a:buNone/>
            </a:pPr>
            <a:r>
              <a:rPr lang="en-US" sz="1600" dirty="0">
                <a:solidFill>
                  <a:schemeClr val="tx1"/>
                </a:solidFill>
              </a:rPr>
              <a:t>Implementation</a:t>
            </a:r>
            <a:endParaRPr lang="en-US" sz="1600" dirty="0"/>
          </a:p>
        </p:txBody>
      </p:sp>
      <p:sp>
        <p:nvSpPr>
          <p:cNvPr id="32" name="TOC row"/>
          <p:cNvSpPr/>
          <p:nvPr/>
        </p:nvSpPr>
        <p:spPr>
          <a:xfrm>
            <a:off x="6217920" y="3008376"/>
            <a:ext cx="5394960" cy="530352"/>
          </a:xfrm>
          <a:prstGeom prst="roundRect">
            <a:avLst>
              <a:gd name="adj" fmla="val 17241"/>
            </a:avLst>
          </a:prstGeom>
          <a:solidFill>
            <a:srgbClr val="F3EBD8"/>
          </a:solidFill>
          <a:ln/>
        </p:spPr>
      </p:sp>
      <p:sp>
        <p:nvSpPr>
          <p:cNvPr id="33" name="TOC number"/>
          <p:cNvSpPr txBox="1"/>
          <p:nvPr/>
        </p:nvSpPr>
        <p:spPr>
          <a:xfrm>
            <a:off x="6400800" y="3008376"/>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12</a:t>
            </a:r>
            <a:endParaRPr lang="en-US" sz="1600" dirty="0"/>
          </a:p>
        </p:txBody>
      </p:sp>
      <p:sp>
        <p:nvSpPr>
          <p:cNvPr id="34" name="TOC title"/>
          <p:cNvSpPr txBox="1"/>
          <p:nvPr/>
        </p:nvSpPr>
        <p:spPr>
          <a:xfrm>
            <a:off x="7040880" y="3008376"/>
            <a:ext cx="4389120" cy="530352"/>
          </a:xfrm>
          <a:prstGeom prst="rect">
            <a:avLst/>
          </a:prstGeom>
          <a:noFill/>
          <a:ln/>
        </p:spPr>
        <p:txBody>
          <a:bodyPr wrap="square" lIns="0" tIns="0" rIns="0" bIns="0" rtlCol="0" anchor="ctr"/>
          <a:lstStyle/>
          <a:p>
            <a:pPr indent="0" marL="0">
              <a:buNone/>
            </a:pPr>
            <a:r>
              <a:rPr lang="en-US" sz="1600" dirty="0">
                <a:solidFill>
                  <a:schemeClr val="tx1"/>
                </a:solidFill>
              </a:rPr>
              <a:t>Results and Discussion</a:t>
            </a:r>
            <a:endParaRPr lang="en-US" sz="1600" dirty="0"/>
          </a:p>
        </p:txBody>
      </p:sp>
      <p:sp>
        <p:nvSpPr>
          <p:cNvPr id="35" name="TOC row"/>
          <p:cNvSpPr/>
          <p:nvPr/>
        </p:nvSpPr>
        <p:spPr>
          <a:xfrm>
            <a:off x="6217920" y="3666744"/>
            <a:ext cx="5394960" cy="530352"/>
          </a:xfrm>
          <a:prstGeom prst="roundRect">
            <a:avLst>
              <a:gd name="adj" fmla="val 17241"/>
            </a:avLst>
          </a:prstGeom>
          <a:solidFill>
            <a:srgbClr val="F3EBD8"/>
          </a:solidFill>
          <a:ln/>
        </p:spPr>
      </p:sp>
      <p:sp>
        <p:nvSpPr>
          <p:cNvPr id="36" name="TOC number"/>
          <p:cNvSpPr txBox="1"/>
          <p:nvPr/>
        </p:nvSpPr>
        <p:spPr>
          <a:xfrm>
            <a:off x="6400800" y="3666744"/>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13</a:t>
            </a:r>
            <a:endParaRPr lang="en-US" sz="1600" dirty="0"/>
          </a:p>
        </p:txBody>
      </p:sp>
      <p:sp>
        <p:nvSpPr>
          <p:cNvPr id="37" name="TOC title"/>
          <p:cNvSpPr txBox="1"/>
          <p:nvPr/>
        </p:nvSpPr>
        <p:spPr>
          <a:xfrm>
            <a:off x="7040880" y="3666744"/>
            <a:ext cx="4389120" cy="530352"/>
          </a:xfrm>
          <a:prstGeom prst="rect">
            <a:avLst/>
          </a:prstGeom>
          <a:noFill/>
          <a:ln/>
        </p:spPr>
        <p:txBody>
          <a:bodyPr wrap="square" lIns="0" tIns="0" rIns="0" bIns="0" rtlCol="0" anchor="ctr"/>
          <a:lstStyle/>
          <a:p>
            <a:pPr indent="0" marL="0">
              <a:buNone/>
            </a:pPr>
            <a:r>
              <a:rPr lang="en-US" sz="1600" dirty="0">
                <a:solidFill>
                  <a:schemeClr val="tx1"/>
                </a:solidFill>
              </a:rPr>
              <a:t>Limitations and Future Scope</a:t>
            </a:r>
            <a:endParaRPr lang="en-US" sz="1600" dirty="0"/>
          </a:p>
        </p:txBody>
      </p:sp>
      <p:sp>
        <p:nvSpPr>
          <p:cNvPr id="38" name="TOC row"/>
          <p:cNvSpPr/>
          <p:nvPr/>
        </p:nvSpPr>
        <p:spPr>
          <a:xfrm>
            <a:off x="6217920" y="4325112"/>
            <a:ext cx="5394960" cy="530352"/>
          </a:xfrm>
          <a:prstGeom prst="roundRect">
            <a:avLst>
              <a:gd name="adj" fmla="val 17241"/>
            </a:avLst>
          </a:prstGeom>
          <a:solidFill>
            <a:srgbClr val="F3EBD8"/>
          </a:solidFill>
          <a:ln/>
        </p:spPr>
      </p:sp>
      <p:sp>
        <p:nvSpPr>
          <p:cNvPr id="39" name="TOC number"/>
          <p:cNvSpPr txBox="1"/>
          <p:nvPr/>
        </p:nvSpPr>
        <p:spPr>
          <a:xfrm>
            <a:off x="6400800" y="4325112"/>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14</a:t>
            </a:r>
            <a:endParaRPr lang="en-US" sz="1600" dirty="0"/>
          </a:p>
        </p:txBody>
      </p:sp>
      <p:sp>
        <p:nvSpPr>
          <p:cNvPr id="40" name="TOC title"/>
          <p:cNvSpPr txBox="1"/>
          <p:nvPr/>
        </p:nvSpPr>
        <p:spPr>
          <a:xfrm>
            <a:off x="7040880" y="4325112"/>
            <a:ext cx="4389120" cy="530352"/>
          </a:xfrm>
          <a:prstGeom prst="rect">
            <a:avLst/>
          </a:prstGeom>
          <a:noFill/>
          <a:ln/>
        </p:spPr>
        <p:txBody>
          <a:bodyPr wrap="square" lIns="0" tIns="0" rIns="0" bIns="0" rtlCol="0" anchor="ctr"/>
          <a:lstStyle/>
          <a:p>
            <a:pPr indent="0" marL="0">
              <a:buNone/>
            </a:pPr>
            <a:r>
              <a:rPr lang="en-US" sz="1600" dirty="0">
                <a:solidFill>
                  <a:schemeClr val="tx1"/>
                </a:solidFill>
              </a:rPr>
              <a:t>Conclusion</a:t>
            </a:r>
            <a:endParaRPr lang="en-US" sz="1600" dirty="0"/>
          </a:p>
        </p:txBody>
      </p:sp>
      <p:sp>
        <p:nvSpPr>
          <p:cNvPr id="41" name="TOC row"/>
          <p:cNvSpPr/>
          <p:nvPr/>
        </p:nvSpPr>
        <p:spPr>
          <a:xfrm>
            <a:off x="6217920" y="4983480"/>
            <a:ext cx="5394960" cy="530352"/>
          </a:xfrm>
          <a:prstGeom prst="roundRect">
            <a:avLst>
              <a:gd name="adj" fmla="val 17241"/>
            </a:avLst>
          </a:prstGeom>
          <a:solidFill>
            <a:srgbClr val="F3EBD8"/>
          </a:solidFill>
          <a:ln/>
        </p:spPr>
      </p:sp>
      <p:sp>
        <p:nvSpPr>
          <p:cNvPr id="42" name="TOC number"/>
          <p:cNvSpPr txBox="1"/>
          <p:nvPr/>
        </p:nvSpPr>
        <p:spPr>
          <a:xfrm>
            <a:off x="6400800" y="4983480"/>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15</a:t>
            </a:r>
            <a:endParaRPr lang="en-US" sz="1600" dirty="0"/>
          </a:p>
        </p:txBody>
      </p:sp>
      <p:sp>
        <p:nvSpPr>
          <p:cNvPr id="43" name="TOC title"/>
          <p:cNvSpPr txBox="1"/>
          <p:nvPr/>
        </p:nvSpPr>
        <p:spPr>
          <a:xfrm>
            <a:off x="7040880" y="4983480"/>
            <a:ext cx="4389120" cy="530352"/>
          </a:xfrm>
          <a:prstGeom prst="rect">
            <a:avLst/>
          </a:prstGeom>
          <a:noFill/>
          <a:ln/>
        </p:spPr>
        <p:txBody>
          <a:bodyPr wrap="square" lIns="0" tIns="0" rIns="0" bIns="0" rtlCol="0" anchor="ctr"/>
          <a:lstStyle/>
          <a:p>
            <a:pPr indent="0" marL="0">
              <a:buNone/>
            </a:pPr>
            <a:r>
              <a:rPr lang="en-US" sz="1600" dirty="0">
                <a:solidFill>
                  <a:schemeClr val="tx1"/>
                </a:solidFill>
              </a:rPr>
              <a:t>References</a:t>
            </a:r>
            <a:endParaRPr lang="en-US" sz="1600" dirty="0"/>
          </a:p>
        </p:txBody>
      </p:sp>
      <p:sp>
        <p:nvSpPr>
          <p:cNvPr id="44" name="TOC row"/>
          <p:cNvSpPr/>
          <p:nvPr/>
        </p:nvSpPr>
        <p:spPr>
          <a:xfrm>
            <a:off x="6217920" y="5641848"/>
            <a:ext cx="5394960" cy="530352"/>
          </a:xfrm>
          <a:prstGeom prst="roundRect">
            <a:avLst>
              <a:gd name="adj" fmla="val 17241"/>
            </a:avLst>
          </a:prstGeom>
          <a:solidFill>
            <a:srgbClr val="F3EBD8"/>
          </a:solidFill>
          <a:ln/>
        </p:spPr>
      </p:sp>
      <p:sp>
        <p:nvSpPr>
          <p:cNvPr id="45" name="TOC number"/>
          <p:cNvSpPr txBox="1"/>
          <p:nvPr/>
        </p:nvSpPr>
        <p:spPr>
          <a:xfrm>
            <a:off x="6400800" y="5641848"/>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16</a:t>
            </a:r>
            <a:endParaRPr lang="en-US" sz="1600" dirty="0"/>
          </a:p>
        </p:txBody>
      </p:sp>
      <p:sp>
        <p:nvSpPr>
          <p:cNvPr id="46" name="TOC title"/>
          <p:cNvSpPr txBox="1"/>
          <p:nvPr/>
        </p:nvSpPr>
        <p:spPr>
          <a:xfrm>
            <a:off x="7040880" y="5641848"/>
            <a:ext cx="4389120" cy="530352"/>
          </a:xfrm>
          <a:prstGeom prst="rect">
            <a:avLst/>
          </a:prstGeom>
          <a:noFill/>
          <a:ln/>
        </p:spPr>
        <p:txBody>
          <a:bodyPr wrap="square" lIns="0" tIns="0" rIns="0" bIns="0" rtlCol="0" anchor="ctr"/>
          <a:lstStyle/>
          <a:p>
            <a:pPr indent="0" marL="0">
              <a:buNone/>
            </a:pPr>
            <a:r>
              <a:rPr lang="en-US" sz="1600" dirty="0">
                <a:solidFill>
                  <a:schemeClr val="tx1"/>
                </a:solidFill>
              </a:rPr>
              <a:t>Thank You</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Introduction</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OVERVIEW</a:t>
            </a:r>
            <a:endParaRPr lang="en-US" sz="1200" dirty="0"/>
          </a:p>
        </p:txBody>
      </p:sp>
      <p:sp>
        <p:nvSpPr>
          <p:cNvPr id="5" name="Intro text"/>
          <p:cNvSpPr txBox="1"/>
          <p:nvPr/>
        </p:nvSpPr>
        <p:spPr>
          <a:xfrm>
            <a:off x="548640" y="1645920"/>
            <a:ext cx="11064240" cy="1005840"/>
          </a:xfrm>
          <a:prstGeom prst="rect">
            <a:avLst/>
          </a:prstGeom>
          <a:noFill/>
          <a:ln/>
        </p:spPr>
        <p:txBody>
          <a:bodyPr wrap="square" lIns="0" tIns="0" rIns="0" bIns="0" rtlCol="0" anchor="t"/>
          <a:lstStyle/>
          <a:p>
            <a:pPr indent="0" marL="0">
              <a:buNone/>
            </a:pPr>
            <a:r>
              <a:rPr lang="en-US" sz="1600" dirty="0">
                <a:solidFill>
                  <a:schemeClr val="tx1"/>
                </a:solidFill>
              </a:rPr>
              <a:t>Face tracking and head movement detection use a webcam to find people, follow them frame by frame, and work out which way they are facing. This project implements two versions of a real-time system and turns the results into attention statistics.</a:t>
            </a:r>
            <a:endParaRPr lang="en-US" sz="1600" dirty="0"/>
          </a:p>
        </p:txBody>
      </p:sp>
      <p:sp>
        <p:nvSpPr>
          <p:cNvPr id="6" name="Version 1 card"/>
          <p:cNvSpPr/>
          <p:nvPr/>
        </p:nvSpPr>
        <p:spPr>
          <a:xfrm>
            <a:off x="548640" y="2880360"/>
            <a:ext cx="5440680" cy="3246120"/>
          </a:xfrm>
          <a:prstGeom prst="roundRect">
            <a:avLst>
              <a:gd name="adj" fmla="val 2817"/>
            </a:avLst>
          </a:prstGeom>
          <a:solidFill>
            <a:srgbClr val="F3EBD8"/>
          </a:solidFill>
          <a:ln/>
        </p:spPr>
      </p:sp>
      <p:sp>
        <p:nvSpPr>
          <p:cNvPr id="7" name="Version 1 text"/>
          <p:cNvSpPr txBox="1"/>
          <p:nvPr/>
        </p:nvSpPr>
        <p:spPr>
          <a:xfrm>
            <a:off x="822960" y="3108960"/>
            <a:ext cx="4937760" cy="2834640"/>
          </a:xfrm>
          <a:prstGeom prst="rect">
            <a:avLst/>
          </a:prstGeom>
          <a:noFill/>
          <a:ln/>
        </p:spPr>
        <p:txBody>
          <a:bodyPr wrap="square" lIns="0" tIns="0" rIns="0" bIns="0" rtlCol="0" anchor="t"/>
          <a:lstStyle/>
          <a:p>
            <a:pPr indent="0" marL="0">
              <a:spcAft>
                <a:spcPts val="800"/>
              </a:spcAft>
              <a:buNone/>
            </a:pPr>
            <a:r>
              <a:rPr lang="en-US" sz="1200" b="1" spc="200" kern="0" dirty="0">
                <a:solidFill>
                  <a:schemeClr val="accent2"/>
                </a:solidFill>
              </a:rPr>
              <a:t>VERSION 1</a:t>
            </a:r>
            <a:endParaRPr lang="en-US" sz="1200" dirty="0"/>
          </a:p>
          <a:p>
            <a:pPr indent="0" marL="0">
              <a:spcAft>
                <a:spcPts val="800"/>
              </a:spcAft>
              <a:buNone/>
            </a:pPr>
            <a:r>
              <a:rPr lang="en-US" sz="2400" b="1" dirty="0">
                <a:solidFill>
                  <a:schemeClr val="tx2"/>
                </a:solidFill>
                <a:latin typeface="Cambria" pitchFamily="34" charset="0"/>
                <a:ea typeface="Cambria" pitchFamily="34" charset="-122"/>
                <a:cs typeface="Cambria" pitchFamily="34" charset="-120"/>
              </a:rPr>
              <a:t>OpenCV Haar Cascades</a:t>
            </a:r>
            <a:endParaRPr lang="en-US" sz="1200" dirty="0"/>
          </a:p>
          <a:p>
            <a:pPr indent="0" marL="0">
              <a:spcAft>
                <a:spcPts val="800"/>
              </a:spcAft>
              <a:buNone/>
            </a:pPr>
            <a:r>
              <a:rPr lang="en-US" sz="1800" dirty="0">
                <a:solidFill>
                  <a:schemeClr val="tx1"/>
                </a:solidFill>
              </a:rPr>
              <a:t>Lightweight, CPU-only detector for face, eyes and smile. Tracks the largest face and reports Left, Right, Up, Down or Center.</a:t>
            </a:r>
            <a:endParaRPr lang="en-US" sz="1200" dirty="0"/>
          </a:p>
          <a:p>
            <a:pPr indent="0" marL="0">
              <a:spcAft>
                <a:spcPts val="800"/>
              </a:spcAft>
              <a:buNone/>
            </a:pPr>
            <a:r>
              <a:rPr lang="en-US" sz="1400" i="1" dirty="0">
                <a:solidFill>
                  <a:schemeClr val="accent3"/>
                </a:solidFill>
              </a:rPr>
              <a:t>Run with main2.py</a:t>
            </a:r>
            <a:endParaRPr lang="en-US" sz="1200" dirty="0"/>
          </a:p>
        </p:txBody>
      </p:sp>
      <p:sp>
        <p:nvSpPr>
          <p:cNvPr id="8" name="Version 2 card"/>
          <p:cNvSpPr/>
          <p:nvPr/>
        </p:nvSpPr>
        <p:spPr>
          <a:xfrm>
            <a:off x="6172200" y="2880360"/>
            <a:ext cx="5440680" cy="3246120"/>
          </a:xfrm>
          <a:prstGeom prst="roundRect">
            <a:avLst>
              <a:gd name="adj" fmla="val 2817"/>
            </a:avLst>
          </a:prstGeom>
          <a:solidFill>
            <a:srgbClr val="1A4731"/>
          </a:solidFill>
          <a:ln/>
        </p:spPr>
      </p:sp>
      <p:sp>
        <p:nvSpPr>
          <p:cNvPr id="9" name="Version 2 text"/>
          <p:cNvSpPr txBox="1"/>
          <p:nvPr/>
        </p:nvSpPr>
        <p:spPr>
          <a:xfrm>
            <a:off x="6446520" y="3108960"/>
            <a:ext cx="4937760" cy="2834640"/>
          </a:xfrm>
          <a:prstGeom prst="rect">
            <a:avLst/>
          </a:prstGeom>
          <a:noFill/>
          <a:ln/>
        </p:spPr>
        <p:txBody>
          <a:bodyPr wrap="square" lIns="0" tIns="0" rIns="0" bIns="0" rtlCol="0" anchor="t"/>
          <a:lstStyle/>
          <a:p>
            <a:pPr indent="0" marL="0">
              <a:spcAft>
                <a:spcPts val="800"/>
              </a:spcAft>
              <a:buNone/>
            </a:pPr>
            <a:r>
              <a:rPr lang="en-US" sz="1200" b="1" spc="200" kern="0" dirty="0">
                <a:solidFill>
                  <a:schemeClr val="accent6"/>
                </a:solidFill>
              </a:rPr>
              <a:t>VERSION 2</a:t>
            </a:r>
            <a:endParaRPr lang="en-US" sz="1200" dirty="0"/>
          </a:p>
          <a:p>
            <a:pPr indent="0" marL="0">
              <a:spcAft>
                <a:spcPts val="800"/>
              </a:spcAft>
              <a:buNone/>
            </a:pPr>
            <a:r>
              <a:rPr lang="en-US" sz="2400" b="1" dirty="0">
                <a:solidFill>
                  <a:schemeClr val="bg1"/>
                </a:solidFill>
                <a:latin typeface="Cambria" pitchFamily="34" charset="0"/>
                <a:ea typeface="Cambria" pitchFamily="34" charset="-122"/>
                <a:cs typeface="Cambria" pitchFamily="34" charset="-120"/>
              </a:rPr>
              <a:t>MediaPipe + Kalman Filter</a:t>
            </a:r>
            <a:endParaRPr lang="en-US" sz="1200" dirty="0"/>
          </a:p>
          <a:p>
            <a:pPr indent="0" marL="0">
              <a:spcAft>
                <a:spcPts val="800"/>
              </a:spcAft>
              <a:buNone/>
            </a:pPr>
            <a:r>
              <a:rPr lang="en-US" sz="1800" dirty="0">
                <a:solidFill>
                  <a:schemeClr val="bg2"/>
                </a:solidFill>
              </a:rPr>
              <a:t>Tracks multiple faces with persistent IDs, predicts motion with Kalman filters and builds a cumulative attention report.</a:t>
            </a:r>
            <a:endParaRPr lang="en-US" sz="1200" dirty="0"/>
          </a:p>
          <a:p>
            <a:pPr indent="0" marL="0">
              <a:spcAft>
                <a:spcPts val="800"/>
              </a:spcAft>
              <a:buNone/>
            </a:pPr>
            <a:r>
              <a:rPr lang="en-US" sz="1400" i="1" dirty="0">
                <a:solidFill>
                  <a:schemeClr val="accent6"/>
                </a:solidFill>
              </a:rPr>
              <a:t>Run with main.py</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Problem Statement</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WHY THIS PROJECT</a:t>
            </a:r>
            <a:endParaRPr lang="en-US" sz="1200" dirty="0"/>
          </a:p>
        </p:txBody>
      </p:sp>
      <p:sp>
        <p:nvSpPr>
          <p:cNvPr id="5" name="Statement card"/>
          <p:cNvSpPr/>
          <p:nvPr/>
        </p:nvSpPr>
        <p:spPr>
          <a:xfrm>
            <a:off x="548640" y="1691640"/>
            <a:ext cx="4297680" cy="4434840"/>
          </a:xfrm>
          <a:prstGeom prst="roundRect">
            <a:avLst>
              <a:gd name="adj" fmla="val 2128"/>
            </a:avLst>
          </a:prstGeom>
          <a:solidFill>
            <a:srgbClr val="1A4731"/>
          </a:solidFill>
          <a:ln/>
        </p:spPr>
      </p:sp>
      <p:sp>
        <p:nvSpPr>
          <p:cNvPr id="6" name="Statement text"/>
          <p:cNvSpPr txBox="1"/>
          <p:nvPr/>
        </p:nvSpPr>
        <p:spPr>
          <a:xfrm>
            <a:off x="822960" y="1920240"/>
            <a:ext cx="3749040" cy="3977640"/>
          </a:xfrm>
          <a:prstGeom prst="rect">
            <a:avLst/>
          </a:prstGeom>
          <a:noFill/>
          <a:ln/>
        </p:spPr>
        <p:txBody>
          <a:bodyPr wrap="square" lIns="0" tIns="0" rIns="0" bIns="0" rtlCol="0" anchor="t"/>
          <a:lstStyle/>
          <a:p>
            <a:pPr indent="0" marL="0">
              <a:spcAft>
                <a:spcPts val="1000"/>
              </a:spcAft>
              <a:buNone/>
            </a:pPr>
            <a:r>
              <a:rPr lang="en-US" sz="1200" b="1" spc="200" kern="0" dirty="0">
                <a:solidFill>
                  <a:schemeClr val="accent6"/>
                </a:solidFill>
              </a:rPr>
              <a:t>THE PROBLEM</a:t>
            </a:r>
            <a:endParaRPr lang="en-US" sz="1200" dirty="0"/>
          </a:p>
          <a:p>
            <a:pPr indent="0" marL="0">
              <a:spcAft>
                <a:spcPts val="1000"/>
              </a:spcAft>
              <a:buNone/>
            </a:pPr>
            <a:r>
              <a:rPr lang="en-US" sz="2000" dirty="0">
                <a:solidFill>
                  <a:schemeClr val="bg1"/>
                </a:solidFill>
              </a:rPr>
              <a:t>Build a real-time system that detects every face in a webcam stream, keeps a stable identity for each person, finds which direction they are looking, and summarises attention over the whole session.</a:t>
            </a:r>
            <a:endParaRPr lang="en-US" sz="1200" dirty="0"/>
          </a:p>
        </p:txBody>
      </p:sp>
      <p:sp>
        <p:nvSpPr>
          <p:cNvPr id="7" name="Problem row"/>
          <p:cNvSpPr/>
          <p:nvPr/>
        </p:nvSpPr>
        <p:spPr>
          <a:xfrm>
            <a:off x="5120640" y="1691640"/>
            <a:ext cx="6492240" cy="1005840"/>
          </a:xfrm>
          <a:prstGeom prst="roundRect">
            <a:avLst>
              <a:gd name="adj" fmla="val 9091"/>
            </a:avLst>
          </a:prstGeom>
          <a:solidFill>
            <a:srgbClr val="F3EBD8"/>
          </a:solidFill>
          <a:ln/>
        </p:spPr>
      </p:sp>
      <p:sp>
        <p:nvSpPr>
          <p:cNvPr id="8" name="Badge"/>
          <p:cNvSpPr/>
          <p:nvPr/>
        </p:nvSpPr>
        <p:spPr>
          <a:xfrm>
            <a:off x="5349240" y="1965960"/>
            <a:ext cx="457200" cy="457200"/>
          </a:xfrm>
          <a:prstGeom prst="ellipse">
            <a:avLst/>
          </a:prstGeom>
          <a:solidFill>
            <a:srgbClr val="B8923A"/>
          </a:solidFill>
          <a:ln/>
        </p:spPr>
      </p:sp>
      <p:sp>
        <p:nvSpPr>
          <p:cNvPr id="9" name="Badge label"/>
          <p:cNvSpPr txBox="1"/>
          <p:nvPr/>
        </p:nvSpPr>
        <p:spPr>
          <a:xfrm>
            <a:off x="5349240" y="1965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Problem text"/>
          <p:cNvSpPr txBox="1"/>
          <p:nvPr/>
        </p:nvSpPr>
        <p:spPr>
          <a:xfrm>
            <a:off x="6035040" y="1783080"/>
            <a:ext cx="5394960" cy="8229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ID swapping</a:t>
            </a:r>
            <a:endParaRPr lang="en-US" sz="1800" dirty="0"/>
          </a:p>
          <a:p>
            <a:pPr indent="0" marL="0">
              <a:buNone/>
            </a:pPr>
            <a:r>
              <a:rPr lang="en-US" sz="1400" dirty="0">
                <a:solidFill>
                  <a:schemeClr val="tx1"/>
                </a:solidFill>
              </a:rPr>
              <a:t>When faces cross or move fast, simple trackers mix up who is who.</a:t>
            </a:r>
            <a:endParaRPr lang="en-US" sz="1800" dirty="0"/>
          </a:p>
        </p:txBody>
      </p:sp>
      <p:sp>
        <p:nvSpPr>
          <p:cNvPr id="11" name="Problem row"/>
          <p:cNvSpPr/>
          <p:nvPr/>
        </p:nvSpPr>
        <p:spPr>
          <a:xfrm>
            <a:off x="5120640" y="2834640"/>
            <a:ext cx="6492240" cy="1005840"/>
          </a:xfrm>
          <a:prstGeom prst="roundRect">
            <a:avLst>
              <a:gd name="adj" fmla="val 9091"/>
            </a:avLst>
          </a:prstGeom>
          <a:solidFill>
            <a:srgbClr val="F3EBD8"/>
          </a:solidFill>
          <a:ln/>
        </p:spPr>
      </p:sp>
      <p:sp>
        <p:nvSpPr>
          <p:cNvPr id="12" name="Badge"/>
          <p:cNvSpPr/>
          <p:nvPr/>
        </p:nvSpPr>
        <p:spPr>
          <a:xfrm>
            <a:off x="5349240" y="3108960"/>
            <a:ext cx="457200" cy="457200"/>
          </a:xfrm>
          <a:prstGeom prst="ellipse">
            <a:avLst/>
          </a:prstGeom>
          <a:solidFill>
            <a:srgbClr val="B8923A"/>
          </a:solidFill>
          <a:ln/>
        </p:spPr>
      </p:sp>
      <p:sp>
        <p:nvSpPr>
          <p:cNvPr id="13" name="Badge label"/>
          <p:cNvSpPr txBox="1"/>
          <p:nvPr/>
        </p:nvSpPr>
        <p:spPr>
          <a:xfrm>
            <a:off x="5349240" y="3108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Problem text"/>
          <p:cNvSpPr txBox="1"/>
          <p:nvPr/>
        </p:nvSpPr>
        <p:spPr>
          <a:xfrm>
            <a:off x="6035040" y="2926080"/>
            <a:ext cx="5394960" cy="8229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Occlusion</a:t>
            </a:r>
            <a:endParaRPr lang="en-US" sz="1800" dirty="0"/>
          </a:p>
          <a:p>
            <a:pPr indent="0" marL="0">
              <a:buNone/>
            </a:pPr>
            <a:r>
              <a:rPr lang="en-US" sz="1400" dirty="0">
                <a:solidFill>
                  <a:schemeClr val="tx1"/>
                </a:solidFill>
              </a:rPr>
              <a:t>Faces turn away or are hidden for a moment and the track is lost.</a:t>
            </a:r>
            <a:endParaRPr lang="en-US" sz="1800" dirty="0"/>
          </a:p>
        </p:txBody>
      </p:sp>
      <p:sp>
        <p:nvSpPr>
          <p:cNvPr id="15" name="Problem row"/>
          <p:cNvSpPr/>
          <p:nvPr/>
        </p:nvSpPr>
        <p:spPr>
          <a:xfrm>
            <a:off x="5120640" y="3977640"/>
            <a:ext cx="6492240" cy="1005840"/>
          </a:xfrm>
          <a:prstGeom prst="roundRect">
            <a:avLst>
              <a:gd name="adj" fmla="val 9091"/>
            </a:avLst>
          </a:prstGeom>
          <a:solidFill>
            <a:srgbClr val="F3EBD8"/>
          </a:solidFill>
          <a:ln/>
        </p:spPr>
      </p:sp>
      <p:sp>
        <p:nvSpPr>
          <p:cNvPr id="16" name="Badge"/>
          <p:cNvSpPr/>
          <p:nvPr/>
        </p:nvSpPr>
        <p:spPr>
          <a:xfrm>
            <a:off x="5349240" y="4251960"/>
            <a:ext cx="457200" cy="457200"/>
          </a:xfrm>
          <a:prstGeom prst="ellipse">
            <a:avLst/>
          </a:prstGeom>
          <a:solidFill>
            <a:srgbClr val="B8923A"/>
          </a:solidFill>
          <a:ln/>
        </p:spPr>
      </p:sp>
      <p:sp>
        <p:nvSpPr>
          <p:cNvPr id="17" name="Badge label"/>
          <p:cNvSpPr txBox="1"/>
          <p:nvPr/>
        </p:nvSpPr>
        <p:spPr>
          <a:xfrm>
            <a:off x="5349240" y="4251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Problem text"/>
          <p:cNvSpPr txBox="1"/>
          <p:nvPr/>
        </p:nvSpPr>
        <p:spPr>
          <a:xfrm>
            <a:off x="6035040" y="4069080"/>
            <a:ext cx="5394960" cy="8229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Re-entry</a:t>
            </a:r>
            <a:endParaRPr lang="en-US" sz="1800" dirty="0"/>
          </a:p>
          <a:p>
            <a:pPr indent="0" marL="0">
              <a:buNone/>
            </a:pPr>
            <a:r>
              <a:rPr lang="en-US" sz="1400" dirty="0">
                <a:solidFill>
                  <a:schemeClr val="tx1"/>
                </a:solidFill>
              </a:rPr>
              <a:t>A person who leaves and returns is counted as someone new.</a:t>
            </a:r>
            <a:endParaRPr lang="en-US" sz="1800" dirty="0"/>
          </a:p>
        </p:txBody>
      </p:sp>
      <p:sp>
        <p:nvSpPr>
          <p:cNvPr id="19" name="Problem row"/>
          <p:cNvSpPr/>
          <p:nvPr/>
        </p:nvSpPr>
        <p:spPr>
          <a:xfrm>
            <a:off x="5120640" y="5120640"/>
            <a:ext cx="6492240" cy="1005840"/>
          </a:xfrm>
          <a:prstGeom prst="roundRect">
            <a:avLst>
              <a:gd name="adj" fmla="val 9091"/>
            </a:avLst>
          </a:prstGeom>
          <a:solidFill>
            <a:srgbClr val="F3EBD8"/>
          </a:solidFill>
          <a:ln/>
        </p:spPr>
      </p:sp>
      <p:sp>
        <p:nvSpPr>
          <p:cNvPr id="20" name="Badge"/>
          <p:cNvSpPr/>
          <p:nvPr/>
        </p:nvSpPr>
        <p:spPr>
          <a:xfrm>
            <a:off x="5349240" y="5394960"/>
            <a:ext cx="457200" cy="457200"/>
          </a:xfrm>
          <a:prstGeom prst="ellipse">
            <a:avLst/>
          </a:prstGeom>
          <a:solidFill>
            <a:srgbClr val="B8923A"/>
          </a:solidFill>
          <a:ln/>
        </p:spPr>
      </p:sp>
      <p:sp>
        <p:nvSpPr>
          <p:cNvPr id="21" name="Badge label"/>
          <p:cNvSpPr txBox="1"/>
          <p:nvPr/>
        </p:nvSpPr>
        <p:spPr>
          <a:xfrm>
            <a:off x="5349240" y="5394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Problem text"/>
          <p:cNvSpPr txBox="1"/>
          <p:nvPr/>
        </p:nvSpPr>
        <p:spPr>
          <a:xfrm>
            <a:off x="6035040" y="5212080"/>
            <a:ext cx="5394960" cy="8229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Noise</a:t>
            </a:r>
            <a:endParaRPr lang="en-US" sz="1800" dirty="0"/>
          </a:p>
          <a:p>
            <a:pPr indent="0" marL="0">
              <a:buNone/>
            </a:pPr>
            <a:r>
              <a:rPr lang="en-US" sz="1400" dirty="0">
                <a:solidFill>
                  <a:schemeClr val="tx1"/>
                </a:solidFill>
              </a:rPr>
              <a:t>Very short false detections spoil the final statistics.</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Objectives</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WHAT WE SET OUT TO DO</a:t>
            </a:r>
            <a:endParaRPr lang="en-US" sz="1200" dirty="0"/>
          </a:p>
        </p:txBody>
      </p:sp>
      <p:graphicFrame>
        <p:nvGraphicFramePr>
          <p:cNvPr id="6" name="Objectives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206240"/>
                <a:gridCol w="6858000"/>
              </a:tblGrid>
              <a:tr h="62179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Objective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How the system achieves it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Detect multiple faces in real time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MediaPipe face detection on every webcam frame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Keep each person's identity stable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Hybrid matching using position and visual similarity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Recognise people who return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HSV colour-histogram fingerprint (re-identification)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Stay stable during brief occlusion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2D Kalman filter predicts position, 45-frame buffer</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Classify attention direction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Nose position inside the face box: Center, Left, Right, Up, Down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Report session attention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Cumulative PNG report with overall and per-face charts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Existing System</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BASELINE: VERSION 1</a:t>
            </a:r>
            <a:endParaRPr lang="en-US" sz="1200" dirty="0"/>
          </a:p>
        </p:txBody>
      </p:sp>
      <p:sp>
        <p:nvSpPr>
          <p:cNvPr id="5" name="How it works card"/>
          <p:cNvSpPr/>
          <p:nvPr/>
        </p:nvSpPr>
        <p:spPr>
          <a:xfrm>
            <a:off x="548640" y="1691640"/>
            <a:ext cx="5440680" cy="4434840"/>
          </a:xfrm>
          <a:prstGeom prst="roundRect">
            <a:avLst>
              <a:gd name="adj" fmla="val 2062"/>
            </a:avLst>
          </a:prstGeom>
          <a:solidFill>
            <a:srgbClr val="F3EBD8"/>
          </a:solidFill>
          <a:ln/>
        </p:spPr>
      </p:sp>
      <p:sp>
        <p:nvSpPr>
          <p:cNvPr id="6" name="How it works text"/>
          <p:cNvSpPr txBox="1"/>
          <p:nvPr/>
        </p:nvSpPr>
        <p:spPr>
          <a:xfrm>
            <a:off x="822960" y="1920240"/>
            <a:ext cx="4937760" cy="4023360"/>
          </a:xfrm>
          <a:prstGeom prst="rect">
            <a:avLst/>
          </a:prstGeom>
          <a:noFill/>
          <a:ln/>
        </p:spPr>
        <p:txBody>
          <a:bodyPr wrap="square" lIns="0" tIns="0" rIns="0" bIns="0" rtlCol="0" anchor="t"/>
          <a:lstStyle/>
          <a:p>
            <a:pPr indent="0" marL="0">
              <a:spcAft>
                <a:spcPts val="1000"/>
              </a:spcAft>
              <a:buNone/>
            </a:pPr>
            <a:r>
              <a:rPr lang="en-US" sz="1200" b="1" spc="200" kern="0" dirty="0">
                <a:solidFill>
                  <a:schemeClr val="accent2"/>
                </a:solidFill>
              </a:rPr>
              <a:t>HOW IT WORKS</a:t>
            </a:r>
            <a:endParaRPr lang="en-US" sz="1900" dirty="0"/>
          </a:p>
          <a:p>
            <a:pPr marL="342900" indent="-342900">
              <a:spcAft>
                <a:spcPts val="1000"/>
              </a:spcAft>
              <a:buSzPct val="100000"/>
              <a:buChar char="•"/>
            </a:pPr>
            <a:r>
              <a:rPr lang="en-US" sz="1900" dirty="0">
                <a:solidFill>
                  <a:schemeClr val="tx1"/>
                </a:solidFill>
              </a:rPr>
              <a:t>Haar cascades (Viola-Jones) detect the face, eyes and smile.</a:t>
            </a:r>
            <a:endParaRPr lang="en-US" sz="1900" dirty="0"/>
          </a:p>
          <a:p>
            <a:pPr marL="342900" indent="-342900">
              <a:spcAft>
                <a:spcPts val="1000"/>
              </a:spcAft>
              <a:buSzPct val="100000"/>
              <a:buChar char="•"/>
            </a:pPr>
            <a:r>
              <a:rPr lang="en-US" sz="1900" dirty="0">
                <a:solidFill>
                  <a:schemeClr val="tx1"/>
                </a:solidFill>
              </a:rPr>
              <a:t>Only the largest face in the frame is used.</a:t>
            </a:r>
            <a:endParaRPr lang="en-US" sz="1900" dirty="0"/>
          </a:p>
          <a:p>
            <a:pPr marL="342900" indent="-342900">
              <a:spcAft>
                <a:spcPts val="1000"/>
              </a:spcAft>
              <a:buSzPct val="100000"/>
              <a:buChar char="•"/>
            </a:pPr>
            <a:r>
              <a:rPr lang="en-US" sz="1900" dirty="0">
                <a:solidFill>
                  <a:schemeClr val="tx1"/>
                </a:solidFill>
              </a:rPr>
              <a:t>Direction comes from where the face box sits relative to the frame centre.</a:t>
            </a:r>
            <a:endParaRPr lang="en-US" sz="1900" dirty="0"/>
          </a:p>
          <a:p>
            <a:pPr marL="342900" indent="-342900">
              <a:spcAft>
                <a:spcPts val="1000"/>
              </a:spcAft>
              <a:buSzPct val="100000"/>
              <a:buChar char="•"/>
            </a:pPr>
            <a:r>
              <a:rPr lang="en-US" sz="1900" dirty="0">
                <a:solidFill>
                  <a:schemeClr val="tx1"/>
                </a:solidFill>
              </a:rPr>
              <a:t>Confidence grows with distance from the centre.</a:t>
            </a:r>
            <a:endParaRPr lang="en-US" sz="1900" dirty="0"/>
          </a:p>
          <a:p>
            <a:pPr marL="342900" indent="-342900">
              <a:spcAft>
                <a:spcPts val="1000"/>
              </a:spcAft>
              <a:buSzPct val="100000"/>
              <a:buChar char="•"/>
            </a:pPr>
            <a:r>
              <a:rPr lang="en-US" sz="1900" dirty="0">
                <a:solidFill>
                  <a:schemeClr val="tx1"/>
                </a:solidFill>
              </a:rPr>
              <a:t>Runs on any CPU. ESC exits.</a:t>
            </a:r>
            <a:endParaRPr lang="en-US" sz="1900" dirty="0"/>
          </a:p>
        </p:txBody>
      </p:sp>
      <p:sp>
        <p:nvSpPr>
          <p:cNvPr id="7" name="Shortcomings card"/>
          <p:cNvSpPr/>
          <p:nvPr/>
        </p:nvSpPr>
        <p:spPr>
          <a:xfrm>
            <a:off x="6172200" y="1691640"/>
            <a:ext cx="5440680" cy="4434840"/>
          </a:xfrm>
          <a:prstGeom prst="roundRect">
            <a:avLst>
              <a:gd name="adj" fmla="val 2062"/>
            </a:avLst>
          </a:prstGeom>
          <a:solidFill>
            <a:srgbClr val="1A4731"/>
          </a:solidFill>
          <a:ln/>
        </p:spPr>
      </p:sp>
      <p:sp>
        <p:nvSpPr>
          <p:cNvPr id="8" name="Shortcomings text"/>
          <p:cNvSpPr txBox="1"/>
          <p:nvPr/>
        </p:nvSpPr>
        <p:spPr>
          <a:xfrm>
            <a:off x="6446520" y="1920240"/>
            <a:ext cx="4937760" cy="4023360"/>
          </a:xfrm>
          <a:prstGeom prst="rect">
            <a:avLst/>
          </a:prstGeom>
          <a:noFill/>
          <a:ln/>
        </p:spPr>
        <p:txBody>
          <a:bodyPr wrap="square" lIns="0" tIns="0" rIns="0" bIns="0" rtlCol="0" anchor="t"/>
          <a:lstStyle/>
          <a:p>
            <a:pPr indent="0" marL="0">
              <a:spcAft>
                <a:spcPts val="1000"/>
              </a:spcAft>
              <a:buNone/>
            </a:pPr>
            <a:r>
              <a:rPr lang="en-US" sz="1200" b="1" spc="200" kern="0" dirty="0">
                <a:solidFill>
                  <a:schemeClr val="accent6"/>
                </a:solidFill>
              </a:rPr>
              <a:t>WHERE IT FALLS SHORT</a:t>
            </a:r>
            <a:endParaRPr lang="en-US" sz="1900" dirty="0"/>
          </a:p>
          <a:p>
            <a:pPr marL="342900" indent="-342900">
              <a:spcAft>
                <a:spcPts val="1000"/>
              </a:spcAft>
              <a:buSzPct val="100000"/>
              <a:buChar char="•"/>
            </a:pPr>
            <a:r>
              <a:rPr lang="en-US" sz="1900" dirty="0">
                <a:solidFill>
                  <a:schemeClr val="bg1"/>
                </a:solidFill>
              </a:rPr>
              <a:t>Tracks a single face, with no persistent ID.</a:t>
            </a:r>
            <a:endParaRPr lang="en-US" sz="1900" dirty="0"/>
          </a:p>
          <a:p>
            <a:pPr marL="342900" indent="-342900">
              <a:spcAft>
                <a:spcPts val="1000"/>
              </a:spcAft>
              <a:buSzPct val="100000"/>
              <a:buChar char="•"/>
            </a:pPr>
            <a:r>
              <a:rPr lang="en-US" sz="1900" dirty="0">
                <a:solidFill>
                  <a:schemeClr val="bg1"/>
                </a:solidFill>
              </a:rPr>
              <a:t>Direction depends on where you sit in the frame, not on how the head turns.</a:t>
            </a:r>
            <a:endParaRPr lang="en-US" sz="1900" dirty="0"/>
          </a:p>
          <a:p>
            <a:pPr marL="342900" indent="-342900">
              <a:spcAft>
                <a:spcPts val="1000"/>
              </a:spcAft>
              <a:buSzPct val="100000"/>
              <a:buChar char="•"/>
            </a:pPr>
            <a:r>
              <a:rPr lang="en-US" sz="1900" dirty="0">
                <a:solidFill>
                  <a:schemeClr val="bg1"/>
                </a:solidFill>
              </a:rPr>
              <a:t>No prediction or smoothing, so a missed frame loses the face.</a:t>
            </a:r>
            <a:endParaRPr lang="en-US" sz="1900" dirty="0"/>
          </a:p>
          <a:p>
            <a:pPr marL="342900" indent="-342900">
              <a:spcAft>
                <a:spcPts val="1000"/>
              </a:spcAft>
              <a:buSzPct val="100000"/>
              <a:buChar char="•"/>
            </a:pPr>
            <a:r>
              <a:rPr lang="en-US" sz="1900" dirty="0">
                <a:solidFill>
                  <a:schemeClr val="bg1"/>
                </a:solidFill>
              </a:rPr>
              <a:t>No session analytics or report.</a:t>
            </a:r>
            <a:endParaRPr lang="en-US" sz="1900" dirty="0"/>
          </a:p>
          <a:p>
            <a:pPr marL="342900" indent="-342900">
              <a:spcAft>
                <a:spcPts val="1000"/>
              </a:spcAft>
              <a:buSzPct val="100000"/>
              <a:buChar char="•"/>
            </a:pPr>
            <a:r>
              <a:rPr lang="en-US" sz="1900" dirty="0">
                <a:solidFill>
                  <a:schemeClr val="bg1"/>
                </a:solidFill>
              </a:rPr>
              <a:t>Haar detectors are sensitive to pose and lighting.</a:t>
            </a:r>
            <a:endParaRPr lang="en-US" sz="1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Proposed System</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VERSION 2: MEDIAPIPE</a:t>
            </a:r>
            <a:endParaRPr lang="en-US" sz="1200" dirty="0"/>
          </a:p>
        </p:txBody>
      </p:sp>
      <p:sp>
        <p:nvSpPr>
          <p:cNvPr id="5" name="Feature card"/>
          <p:cNvSpPr/>
          <p:nvPr/>
        </p:nvSpPr>
        <p:spPr>
          <a:xfrm>
            <a:off x="548640" y="1691640"/>
            <a:ext cx="3566160" cy="2103120"/>
          </a:xfrm>
          <a:prstGeom prst="roundRect">
            <a:avLst>
              <a:gd name="adj" fmla="val 4348"/>
            </a:avLst>
          </a:prstGeom>
          <a:solidFill>
            <a:srgbClr val="F3EBD8"/>
          </a:solidFill>
          <a:ln/>
        </p:spPr>
      </p:sp>
      <p:sp>
        <p:nvSpPr>
          <p:cNvPr id="6" name="Badge"/>
          <p:cNvSpPr/>
          <p:nvPr/>
        </p:nvSpPr>
        <p:spPr>
          <a:xfrm>
            <a:off x="777240" y="1920240"/>
            <a:ext cx="457200" cy="457200"/>
          </a:xfrm>
          <a:prstGeom prst="ellipse">
            <a:avLst/>
          </a:prstGeom>
          <a:solidFill>
            <a:srgbClr val="1A4731"/>
          </a:solidFill>
          <a:ln/>
        </p:spPr>
      </p:sp>
      <p:sp>
        <p:nvSpPr>
          <p:cNvPr id="7" name="Badge label"/>
          <p:cNvSpPr txBox="1"/>
          <p:nvPr/>
        </p:nvSpPr>
        <p:spPr>
          <a:xfrm>
            <a:off x="777240" y="1920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Feature text"/>
          <p:cNvSpPr txBox="1"/>
          <p:nvPr/>
        </p:nvSpPr>
        <p:spPr>
          <a:xfrm>
            <a:off x="777240" y="2514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Persistent Re-ID</a:t>
            </a:r>
            <a:endParaRPr lang="en-US" sz="1800" dirty="0"/>
          </a:p>
          <a:p>
            <a:pPr indent="0" marL="0">
              <a:spcAft>
                <a:spcPts val="400"/>
              </a:spcAft>
              <a:buNone/>
            </a:pPr>
            <a:r>
              <a:rPr lang="en-US" sz="1400" dirty="0">
                <a:solidFill>
                  <a:schemeClr val="tx1"/>
                </a:solidFill>
              </a:rPr>
              <a:t>HSV histogram fingerprints let a returning person keep the original Face ID.</a:t>
            </a:r>
            <a:endParaRPr lang="en-US" sz="1800" dirty="0"/>
          </a:p>
        </p:txBody>
      </p:sp>
      <p:sp>
        <p:nvSpPr>
          <p:cNvPr id="9" name="Feature card"/>
          <p:cNvSpPr/>
          <p:nvPr/>
        </p:nvSpPr>
        <p:spPr>
          <a:xfrm>
            <a:off x="4297680" y="1691640"/>
            <a:ext cx="3566160" cy="2103120"/>
          </a:xfrm>
          <a:prstGeom prst="roundRect">
            <a:avLst>
              <a:gd name="adj" fmla="val 4348"/>
            </a:avLst>
          </a:prstGeom>
          <a:solidFill>
            <a:srgbClr val="F3EBD8"/>
          </a:solidFill>
          <a:ln/>
        </p:spPr>
      </p:sp>
      <p:sp>
        <p:nvSpPr>
          <p:cNvPr id="10" name="Badge"/>
          <p:cNvSpPr/>
          <p:nvPr/>
        </p:nvSpPr>
        <p:spPr>
          <a:xfrm>
            <a:off x="4526280" y="1920240"/>
            <a:ext cx="457200" cy="457200"/>
          </a:xfrm>
          <a:prstGeom prst="ellipse">
            <a:avLst/>
          </a:prstGeom>
          <a:solidFill>
            <a:srgbClr val="1A4731"/>
          </a:solidFill>
          <a:ln/>
        </p:spPr>
      </p:sp>
      <p:sp>
        <p:nvSpPr>
          <p:cNvPr id="11" name="Badge label"/>
          <p:cNvSpPr txBox="1"/>
          <p:nvPr/>
        </p:nvSpPr>
        <p:spPr>
          <a:xfrm>
            <a:off x="4526280" y="1920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Feature text"/>
          <p:cNvSpPr txBox="1"/>
          <p:nvPr/>
        </p:nvSpPr>
        <p:spPr>
          <a:xfrm>
            <a:off x="4526280" y="2514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Hybrid association</a:t>
            </a:r>
            <a:endParaRPr lang="en-US" sz="1800" dirty="0"/>
          </a:p>
          <a:p>
            <a:pPr indent="0" marL="0">
              <a:spcAft>
                <a:spcPts val="400"/>
              </a:spcAft>
              <a:buNone/>
            </a:pPr>
            <a:r>
              <a:rPr lang="en-US" sz="1400" dirty="0">
                <a:solidFill>
                  <a:schemeClr val="tx1"/>
                </a:solidFill>
              </a:rPr>
              <a:t>Position plus visual similarity prevents ID swapping.</a:t>
            </a:r>
            <a:endParaRPr lang="en-US" sz="1800" dirty="0"/>
          </a:p>
        </p:txBody>
      </p:sp>
      <p:sp>
        <p:nvSpPr>
          <p:cNvPr id="13" name="Feature card"/>
          <p:cNvSpPr/>
          <p:nvPr/>
        </p:nvSpPr>
        <p:spPr>
          <a:xfrm>
            <a:off x="8046720" y="1691640"/>
            <a:ext cx="3566160" cy="2103120"/>
          </a:xfrm>
          <a:prstGeom prst="roundRect">
            <a:avLst>
              <a:gd name="adj" fmla="val 4348"/>
            </a:avLst>
          </a:prstGeom>
          <a:solidFill>
            <a:srgbClr val="F3EBD8"/>
          </a:solidFill>
          <a:ln/>
        </p:spPr>
      </p:sp>
      <p:sp>
        <p:nvSpPr>
          <p:cNvPr id="14" name="Badge"/>
          <p:cNvSpPr/>
          <p:nvPr/>
        </p:nvSpPr>
        <p:spPr>
          <a:xfrm>
            <a:off x="8275320" y="1920240"/>
            <a:ext cx="457200" cy="457200"/>
          </a:xfrm>
          <a:prstGeom prst="ellipse">
            <a:avLst/>
          </a:prstGeom>
          <a:solidFill>
            <a:srgbClr val="1A4731"/>
          </a:solidFill>
          <a:ln/>
        </p:spPr>
      </p:sp>
      <p:sp>
        <p:nvSpPr>
          <p:cNvPr id="15" name="Badge label"/>
          <p:cNvSpPr txBox="1"/>
          <p:nvPr/>
        </p:nvSpPr>
        <p:spPr>
          <a:xfrm>
            <a:off x="8275320" y="1920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Feature text"/>
          <p:cNvSpPr txBox="1"/>
          <p:nvPr/>
        </p:nvSpPr>
        <p:spPr>
          <a:xfrm>
            <a:off x="8275320" y="2514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Direction analysis</a:t>
            </a:r>
            <a:endParaRPr lang="en-US" sz="1800" dirty="0"/>
          </a:p>
          <a:p>
            <a:pPr indent="0" marL="0">
              <a:spcAft>
                <a:spcPts val="400"/>
              </a:spcAft>
              <a:buNone/>
            </a:pPr>
            <a:r>
              <a:rPr lang="en-US" sz="1400" dirty="0">
                <a:solidFill>
                  <a:schemeClr val="tx1"/>
                </a:solidFill>
              </a:rPr>
              <a:t>Center, Left, Right, Up or Down from the nose keypoint.</a:t>
            </a:r>
            <a:endParaRPr lang="en-US" sz="1800" dirty="0"/>
          </a:p>
        </p:txBody>
      </p:sp>
      <p:sp>
        <p:nvSpPr>
          <p:cNvPr id="17" name="Feature card"/>
          <p:cNvSpPr/>
          <p:nvPr/>
        </p:nvSpPr>
        <p:spPr>
          <a:xfrm>
            <a:off x="548640" y="3977640"/>
            <a:ext cx="3566160" cy="2103120"/>
          </a:xfrm>
          <a:prstGeom prst="roundRect">
            <a:avLst>
              <a:gd name="adj" fmla="val 4348"/>
            </a:avLst>
          </a:prstGeom>
          <a:solidFill>
            <a:srgbClr val="F3EBD8"/>
          </a:solidFill>
          <a:ln/>
        </p:spPr>
      </p:sp>
      <p:sp>
        <p:nvSpPr>
          <p:cNvPr id="18" name="Badge"/>
          <p:cNvSpPr/>
          <p:nvPr/>
        </p:nvSpPr>
        <p:spPr>
          <a:xfrm>
            <a:off x="777240" y="4206240"/>
            <a:ext cx="457200" cy="457200"/>
          </a:xfrm>
          <a:prstGeom prst="ellipse">
            <a:avLst/>
          </a:prstGeom>
          <a:solidFill>
            <a:srgbClr val="1A4731"/>
          </a:solidFill>
          <a:ln/>
        </p:spPr>
      </p:sp>
      <p:sp>
        <p:nvSpPr>
          <p:cNvPr id="19" name="Badge label"/>
          <p:cNvSpPr txBox="1"/>
          <p:nvPr/>
        </p:nvSpPr>
        <p:spPr>
          <a:xfrm>
            <a:off x="777240" y="4206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Feature text"/>
          <p:cNvSpPr txBox="1"/>
          <p:nvPr/>
        </p:nvSpPr>
        <p:spPr>
          <a:xfrm>
            <a:off x="777240" y="4800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Kalman smoothing</a:t>
            </a:r>
            <a:endParaRPr lang="en-US" sz="1800" dirty="0"/>
          </a:p>
          <a:p>
            <a:pPr indent="0" marL="0">
              <a:spcAft>
                <a:spcPts val="400"/>
              </a:spcAft>
              <a:buNone/>
            </a:pPr>
            <a:r>
              <a:rPr lang="en-US" sz="1400" dirty="0">
                <a:solidFill>
                  <a:schemeClr val="tx1"/>
                </a:solidFill>
              </a:rPr>
              <a:t>Predicts each face's position and rides out short occlusions.</a:t>
            </a:r>
            <a:endParaRPr lang="en-US" sz="1800" dirty="0"/>
          </a:p>
        </p:txBody>
      </p:sp>
      <p:sp>
        <p:nvSpPr>
          <p:cNvPr id="21" name="Feature card"/>
          <p:cNvSpPr/>
          <p:nvPr/>
        </p:nvSpPr>
        <p:spPr>
          <a:xfrm>
            <a:off x="4297680" y="3977640"/>
            <a:ext cx="3566160" cy="2103120"/>
          </a:xfrm>
          <a:prstGeom prst="roundRect">
            <a:avLst>
              <a:gd name="adj" fmla="val 4348"/>
            </a:avLst>
          </a:prstGeom>
          <a:solidFill>
            <a:srgbClr val="F3EBD8"/>
          </a:solidFill>
          <a:ln/>
        </p:spPr>
      </p:sp>
      <p:sp>
        <p:nvSpPr>
          <p:cNvPr id="22" name="Badge"/>
          <p:cNvSpPr/>
          <p:nvPr/>
        </p:nvSpPr>
        <p:spPr>
          <a:xfrm>
            <a:off x="4526280" y="4206240"/>
            <a:ext cx="457200" cy="457200"/>
          </a:xfrm>
          <a:prstGeom prst="ellipse">
            <a:avLst/>
          </a:prstGeom>
          <a:solidFill>
            <a:srgbClr val="1A4731"/>
          </a:solidFill>
          <a:ln/>
        </p:spPr>
      </p:sp>
      <p:sp>
        <p:nvSpPr>
          <p:cNvPr id="23" name="Badge label"/>
          <p:cNvSpPr txBox="1"/>
          <p:nvPr/>
        </p:nvSpPr>
        <p:spPr>
          <a:xfrm>
            <a:off x="4526280" y="4206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4" name="Feature text"/>
          <p:cNvSpPr txBox="1"/>
          <p:nvPr/>
        </p:nvSpPr>
        <p:spPr>
          <a:xfrm>
            <a:off x="4526280" y="4800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Cumulative dashboard</a:t>
            </a:r>
            <a:endParaRPr lang="en-US" sz="1800" dirty="0"/>
          </a:p>
          <a:p>
            <a:pPr indent="0" marL="0">
              <a:spcAft>
                <a:spcPts val="400"/>
              </a:spcAft>
              <a:buNone/>
            </a:pPr>
            <a:r>
              <a:rPr lang="en-US" sz="1400" dirty="0">
                <a:solidFill>
                  <a:schemeClr val="tx1"/>
                </a:solidFill>
              </a:rPr>
              <a:t>Overall and per-face attention charts saved as a PNG.</a:t>
            </a:r>
            <a:endParaRPr lang="en-US" sz="1800" dirty="0"/>
          </a:p>
        </p:txBody>
      </p:sp>
      <p:sp>
        <p:nvSpPr>
          <p:cNvPr id="25" name="Feature card"/>
          <p:cNvSpPr/>
          <p:nvPr/>
        </p:nvSpPr>
        <p:spPr>
          <a:xfrm>
            <a:off x="8046720" y="3977640"/>
            <a:ext cx="3566160" cy="2103120"/>
          </a:xfrm>
          <a:prstGeom prst="roundRect">
            <a:avLst>
              <a:gd name="adj" fmla="val 4348"/>
            </a:avLst>
          </a:prstGeom>
          <a:solidFill>
            <a:srgbClr val="F3EBD8"/>
          </a:solidFill>
          <a:ln/>
        </p:spPr>
      </p:sp>
      <p:sp>
        <p:nvSpPr>
          <p:cNvPr id="26" name="Badge"/>
          <p:cNvSpPr/>
          <p:nvPr/>
        </p:nvSpPr>
        <p:spPr>
          <a:xfrm>
            <a:off x="8275320" y="4206240"/>
            <a:ext cx="457200" cy="457200"/>
          </a:xfrm>
          <a:prstGeom prst="ellipse">
            <a:avLst/>
          </a:prstGeom>
          <a:solidFill>
            <a:srgbClr val="1A4731"/>
          </a:solidFill>
          <a:ln/>
        </p:spPr>
      </p:sp>
      <p:sp>
        <p:nvSpPr>
          <p:cNvPr id="27" name="Badge label"/>
          <p:cNvSpPr txBox="1"/>
          <p:nvPr/>
        </p:nvSpPr>
        <p:spPr>
          <a:xfrm>
            <a:off x="8275320" y="4206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8" name="Feature text"/>
          <p:cNvSpPr txBox="1"/>
          <p:nvPr/>
        </p:nvSpPr>
        <p:spPr>
          <a:xfrm>
            <a:off x="8275320" y="4800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Noise filtering</a:t>
            </a:r>
            <a:endParaRPr lang="en-US" sz="1800" dirty="0"/>
          </a:p>
          <a:p>
            <a:pPr indent="0" marL="0">
              <a:spcAft>
                <a:spcPts val="400"/>
              </a:spcAft>
              <a:buNone/>
            </a:pPr>
            <a:r>
              <a:rPr lang="en-US" sz="1400" dirty="0">
                <a:solidFill>
                  <a:schemeClr val="tx1"/>
                </a:solidFill>
              </a:rPr>
              <a:t>Faces seen for under 2 seconds are left out of the report.</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Methodology</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PROCESSING PIPELINE, PER FRAME</a:t>
            </a:r>
            <a:endParaRPr lang="en-US" sz="1200" dirty="0"/>
          </a:p>
        </p:txBody>
      </p:sp>
      <p:sp>
        <p:nvSpPr>
          <p:cNvPr id="5" name="Step chevron"/>
          <p:cNvSpPr/>
          <p:nvPr/>
        </p:nvSpPr>
        <p:spPr>
          <a:xfrm>
            <a:off x="548640" y="1783080"/>
            <a:ext cx="1920240" cy="731520"/>
          </a:xfrm>
          <a:prstGeom prst="chevron">
            <a:avLst/>
          </a:prstGeom>
          <a:solidFill>
            <a:schemeClr val="accent1"/>
          </a:solidFill>
          <a:ln/>
        </p:spPr>
      </p:sp>
      <p:sp>
        <p:nvSpPr>
          <p:cNvPr id="6" name="Step title"/>
          <p:cNvSpPr txBox="1"/>
          <p:nvPr/>
        </p:nvSpPr>
        <p:spPr>
          <a:xfrm>
            <a:off x="8229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1  Capture</a:t>
            </a:r>
            <a:endParaRPr lang="en-US" sz="1500" dirty="0"/>
          </a:p>
        </p:txBody>
      </p:sp>
      <p:sp>
        <p:nvSpPr>
          <p:cNvPr id="7" name="Step card"/>
          <p:cNvSpPr/>
          <p:nvPr/>
        </p:nvSpPr>
        <p:spPr>
          <a:xfrm>
            <a:off x="548640" y="2743200"/>
            <a:ext cx="1691640" cy="2926080"/>
          </a:xfrm>
          <a:prstGeom prst="roundRect">
            <a:avLst>
              <a:gd name="adj" fmla="val 5405"/>
            </a:avLst>
          </a:prstGeom>
          <a:solidFill>
            <a:srgbClr val="F3EBD8"/>
          </a:solidFill>
          <a:ln/>
        </p:spPr>
      </p:sp>
      <p:sp>
        <p:nvSpPr>
          <p:cNvPr id="8" name="Step text"/>
          <p:cNvSpPr txBox="1"/>
          <p:nvPr/>
        </p:nvSpPr>
        <p:spPr>
          <a:xfrm>
            <a:off x="6583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Read a webcam frame and mirror it.</a:t>
            </a:r>
            <a:endParaRPr lang="en-US" sz="1500" dirty="0"/>
          </a:p>
        </p:txBody>
      </p:sp>
      <p:sp>
        <p:nvSpPr>
          <p:cNvPr id="9" name="Step chevron"/>
          <p:cNvSpPr/>
          <p:nvPr/>
        </p:nvSpPr>
        <p:spPr>
          <a:xfrm>
            <a:off x="2377440" y="1783080"/>
            <a:ext cx="1920240" cy="731520"/>
          </a:xfrm>
          <a:prstGeom prst="chevron">
            <a:avLst/>
          </a:prstGeom>
          <a:solidFill>
            <a:schemeClr val="accent4"/>
          </a:solidFill>
          <a:ln/>
        </p:spPr>
      </p:sp>
      <p:sp>
        <p:nvSpPr>
          <p:cNvPr id="10" name="Step title"/>
          <p:cNvSpPr txBox="1"/>
          <p:nvPr/>
        </p:nvSpPr>
        <p:spPr>
          <a:xfrm>
            <a:off x="26517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2  Detect</a:t>
            </a:r>
            <a:endParaRPr lang="en-US" sz="1500" dirty="0"/>
          </a:p>
        </p:txBody>
      </p:sp>
      <p:sp>
        <p:nvSpPr>
          <p:cNvPr id="11" name="Step card"/>
          <p:cNvSpPr/>
          <p:nvPr/>
        </p:nvSpPr>
        <p:spPr>
          <a:xfrm>
            <a:off x="2377440" y="2743200"/>
            <a:ext cx="1691640" cy="2926080"/>
          </a:xfrm>
          <a:prstGeom prst="roundRect">
            <a:avLst>
              <a:gd name="adj" fmla="val 5405"/>
            </a:avLst>
          </a:prstGeom>
          <a:solidFill>
            <a:srgbClr val="F3EBD8"/>
          </a:solidFill>
          <a:ln/>
        </p:spPr>
      </p:sp>
      <p:sp>
        <p:nvSpPr>
          <p:cNvPr id="12" name="Step text"/>
          <p:cNvSpPr txBox="1"/>
          <p:nvPr/>
        </p:nvSpPr>
        <p:spPr>
          <a:xfrm>
            <a:off x="24871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MediaPipe returns faces, nose keypoint and confidence (min 0.5).</a:t>
            </a:r>
            <a:endParaRPr lang="en-US" sz="1500" dirty="0"/>
          </a:p>
        </p:txBody>
      </p:sp>
      <p:sp>
        <p:nvSpPr>
          <p:cNvPr id="13" name="Step chevron"/>
          <p:cNvSpPr/>
          <p:nvPr/>
        </p:nvSpPr>
        <p:spPr>
          <a:xfrm>
            <a:off x="4206240" y="1783080"/>
            <a:ext cx="1920240" cy="731520"/>
          </a:xfrm>
          <a:prstGeom prst="chevron">
            <a:avLst/>
          </a:prstGeom>
          <a:solidFill>
            <a:schemeClr val="accent1"/>
          </a:solidFill>
          <a:ln/>
        </p:spPr>
      </p:sp>
      <p:sp>
        <p:nvSpPr>
          <p:cNvPr id="14" name="Step title"/>
          <p:cNvSpPr txBox="1"/>
          <p:nvPr/>
        </p:nvSpPr>
        <p:spPr>
          <a:xfrm>
            <a:off x="44805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3  Predict</a:t>
            </a:r>
            <a:endParaRPr lang="en-US" sz="1500" dirty="0"/>
          </a:p>
        </p:txBody>
      </p:sp>
      <p:sp>
        <p:nvSpPr>
          <p:cNvPr id="15" name="Step card"/>
          <p:cNvSpPr/>
          <p:nvPr/>
        </p:nvSpPr>
        <p:spPr>
          <a:xfrm>
            <a:off x="4206240" y="2743200"/>
            <a:ext cx="1691640" cy="2926080"/>
          </a:xfrm>
          <a:prstGeom prst="roundRect">
            <a:avLst>
              <a:gd name="adj" fmla="val 5405"/>
            </a:avLst>
          </a:prstGeom>
          <a:solidFill>
            <a:srgbClr val="F3EBD8"/>
          </a:solidFill>
          <a:ln/>
        </p:spPr>
      </p:sp>
      <p:sp>
        <p:nvSpPr>
          <p:cNvPr id="16" name="Step text"/>
          <p:cNvSpPr txBox="1"/>
          <p:nvPr/>
        </p:nvSpPr>
        <p:spPr>
          <a:xfrm>
            <a:off x="43159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Kalman filter predicts where each tracked face should be.</a:t>
            </a:r>
            <a:endParaRPr lang="en-US" sz="1500" dirty="0"/>
          </a:p>
        </p:txBody>
      </p:sp>
      <p:sp>
        <p:nvSpPr>
          <p:cNvPr id="17" name="Step chevron"/>
          <p:cNvSpPr/>
          <p:nvPr/>
        </p:nvSpPr>
        <p:spPr>
          <a:xfrm>
            <a:off x="6035040" y="1783080"/>
            <a:ext cx="1920240" cy="731520"/>
          </a:xfrm>
          <a:prstGeom prst="chevron">
            <a:avLst/>
          </a:prstGeom>
          <a:solidFill>
            <a:schemeClr val="accent4"/>
          </a:solidFill>
          <a:ln/>
        </p:spPr>
      </p:sp>
      <p:sp>
        <p:nvSpPr>
          <p:cNvPr id="18" name="Step title"/>
          <p:cNvSpPr txBox="1"/>
          <p:nvPr/>
        </p:nvSpPr>
        <p:spPr>
          <a:xfrm>
            <a:off x="63093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4  Associate</a:t>
            </a:r>
            <a:endParaRPr lang="en-US" sz="1500" dirty="0"/>
          </a:p>
        </p:txBody>
      </p:sp>
      <p:sp>
        <p:nvSpPr>
          <p:cNvPr id="19" name="Step card"/>
          <p:cNvSpPr/>
          <p:nvPr/>
        </p:nvSpPr>
        <p:spPr>
          <a:xfrm>
            <a:off x="6035040" y="2743200"/>
            <a:ext cx="1691640" cy="2926080"/>
          </a:xfrm>
          <a:prstGeom prst="roundRect">
            <a:avLst>
              <a:gd name="adj" fmla="val 5405"/>
            </a:avLst>
          </a:prstGeom>
          <a:solidFill>
            <a:srgbClr val="F3EBD8"/>
          </a:solidFill>
          <a:ln/>
        </p:spPr>
      </p:sp>
      <p:sp>
        <p:nvSpPr>
          <p:cNvPr id="20" name="Step text"/>
          <p:cNvSpPr txBox="1"/>
          <p:nvPr/>
        </p:nvSpPr>
        <p:spPr>
          <a:xfrm>
            <a:off x="61447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Match detections to tracks: 0.7 distance + 0.3 visual score.</a:t>
            </a:r>
            <a:endParaRPr lang="en-US" sz="1500" dirty="0"/>
          </a:p>
        </p:txBody>
      </p:sp>
      <p:sp>
        <p:nvSpPr>
          <p:cNvPr id="21" name="Step chevron"/>
          <p:cNvSpPr/>
          <p:nvPr/>
        </p:nvSpPr>
        <p:spPr>
          <a:xfrm>
            <a:off x="7863840" y="1783080"/>
            <a:ext cx="1920240" cy="731520"/>
          </a:xfrm>
          <a:prstGeom prst="chevron">
            <a:avLst/>
          </a:prstGeom>
          <a:solidFill>
            <a:schemeClr val="accent1"/>
          </a:solidFill>
          <a:ln/>
        </p:spPr>
      </p:sp>
      <p:sp>
        <p:nvSpPr>
          <p:cNvPr id="22" name="Step title"/>
          <p:cNvSpPr txBox="1"/>
          <p:nvPr/>
        </p:nvSpPr>
        <p:spPr>
          <a:xfrm>
            <a:off x="81381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5  Re-ID</a:t>
            </a:r>
            <a:endParaRPr lang="en-US" sz="1500" dirty="0"/>
          </a:p>
        </p:txBody>
      </p:sp>
      <p:sp>
        <p:nvSpPr>
          <p:cNvPr id="23" name="Step card"/>
          <p:cNvSpPr/>
          <p:nvPr/>
        </p:nvSpPr>
        <p:spPr>
          <a:xfrm>
            <a:off x="7863840" y="2743200"/>
            <a:ext cx="1691640" cy="2926080"/>
          </a:xfrm>
          <a:prstGeom prst="roundRect">
            <a:avLst>
              <a:gd name="adj" fmla="val 5405"/>
            </a:avLst>
          </a:prstGeom>
          <a:solidFill>
            <a:srgbClr val="F3EBD8"/>
          </a:solidFill>
          <a:ln/>
        </p:spPr>
      </p:sp>
      <p:sp>
        <p:nvSpPr>
          <p:cNvPr id="24" name="Step text"/>
          <p:cNvSpPr txBox="1"/>
          <p:nvPr/>
        </p:nvSpPr>
        <p:spPr>
          <a:xfrm>
            <a:off x="79735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Unmatched faces are compared with stored histograms; reuse old ID or make a new one.</a:t>
            </a:r>
            <a:endParaRPr lang="en-US" sz="1500" dirty="0"/>
          </a:p>
        </p:txBody>
      </p:sp>
      <p:sp>
        <p:nvSpPr>
          <p:cNvPr id="25" name="Step chevron"/>
          <p:cNvSpPr/>
          <p:nvPr/>
        </p:nvSpPr>
        <p:spPr>
          <a:xfrm>
            <a:off x="9692640" y="1783080"/>
            <a:ext cx="1920240" cy="731520"/>
          </a:xfrm>
          <a:prstGeom prst="chevron">
            <a:avLst/>
          </a:prstGeom>
          <a:solidFill>
            <a:schemeClr val="accent4"/>
          </a:solidFill>
          <a:ln/>
        </p:spPr>
      </p:sp>
      <p:sp>
        <p:nvSpPr>
          <p:cNvPr id="26" name="Step title"/>
          <p:cNvSpPr txBox="1"/>
          <p:nvPr/>
        </p:nvSpPr>
        <p:spPr>
          <a:xfrm>
            <a:off x="99669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6  Analyse</a:t>
            </a:r>
            <a:endParaRPr lang="en-US" sz="1500" dirty="0"/>
          </a:p>
        </p:txBody>
      </p:sp>
      <p:sp>
        <p:nvSpPr>
          <p:cNvPr id="27" name="Step card"/>
          <p:cNvSpPr/>
          <p:nvPr/>
        </p:nvSpPr>
        <p:spPr>
          <a:xfrm>
            <a:off x="9692640" y="2743200"/>
            <a:ext cx="1691640" cy="2926080"/>
          </a:xfrm>
          <a:prstGeom prst="roundRect">
            <a:avLst>
              <a:gd name="adj" fmla="val 5405"/>
            </a:avLst>
          </a:prstGeom>
          <a:solidFill>
            <a:srgbClr val="F3EBD8"/>
          </a:solidFill>
          <a:ln/>
        </p:spPr>
      </p:sp>
      <p:sp>
        <p:nvSpPr>
          <p:cNvPr id="28" name="Step text"/>
          <p:cNvSpPr txBox="1"/>
          <p:nvPr/>
        </p:nvSpPr>
        <p:spPr>
          <a:xfrm>
            <a:off x="98023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Update direction and time per direction. Press q to build the report.</a:t>
            </a:r>
            <a:endParaRPr lang="en-US" sz="1500" dirty="0"/>
          </a:p>
        </p:txBody>
      </p:sp>
      <p:sp>
        <p:nvSpPr>
          <p:cNvPr id="29" name="Pipeline note"/>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400" i="1" dirty="0">
                <a:solidFill>
                  <a:schemeClr val="accent3"/>
                </a:solidFill>
              </a:rPr>
              <a:t>A track is dropped after 45 missed frames, and its histogram and times are kept for re-identification.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System Design / Architecture</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MODULES AND DATA FLOW (VERSION 2)</a:t>
            </a:r>
            <a:endParaRPr lang="en-US" sz="1200" dirty="0"/>
          </a:p>
        </p:txBody>
      </p:sp>
      <p:sp>
        <p:nvSpPr>
          <p:cNvPr id="5" name="Module box"/>
          <p:cNvSpPr/>
          <p:nvPr/>
        </p:nvSpPr>
        <p:spPr>
          <a:xfrm>
            <a:off x="548640" y="1737360"/>
            <a:ext cx="2011680" cy="1097280"/>
          </a:xfrm>
          <a:prstGeom prst="roundRect">
            <a:avLst>
              <a:gd name="adj" fmla="val 8333"/>
            </a:avLst>
          </a:prstGeom>
          <a:solidFill>
            <a:srgbClr val="F3EBD8"/>
          </a:solidFill>
          <a:ln/>
        </p:spPr>
      </p:sp>
      <p:sp>
        <p:nvSpPr>
          <p:cNvPr id="6" name="Module text"/>
          <p:cNvSpPr txBox="1"/>
          <p:nvPr/>
        </p:nvSpPr>
        <p:spPr>
          <a:xfrm>
            <a:off x="640080" y="1737360"/>
            <a:ext cx="1828800" cy="1097280"/>
          </a:xfrm>
          <a:prstGeom prst="rect">
            <a:avLst/>
          </a:prstGeom>
          <a:noFill/>
          <a:ln/>
        </p:spPr>
        <p:txBody>
          <a:bodyPr wrap="square" lIns="0" tIns="0" rIns="0" bIns="0" rtlCol="0" anchor="ctr"/>
          <a:lstStyle/>
          <a:p>
            <a:pPr algn="ctr" indent="0" marL="0">
              <a:buNone/>
            </a:pPr>
            <a:r>
              <a:rPr lang="en-US" sz="1600" b="1" dirty="0">
                <a:solidFill>
                  <a:schemeClr val="tx2"/>
                </a:solidFill>
              </a:rPr>
              <a:t>Webcam</a:t>
            </a:r>
            <a:endParaRPr lang="en-US" sz="1600" dirty="0"/>
          </a:p>
          <a:p>
            <a:pPr algn="ctr" indent="0" marL="0">
              <a:buNone/>
            </a:pPr>
            <a:r>
              <a:rPr lang="en-US" sz="1200" dirty="0">
                <a:solidFill>
                  <a:schemeClr val="accent3"/>
                </a:solidFill>
              </a:rPr>
              <a:t>cv2.VideoCapture(0)</a:t>
            </a:r>
            <a:endParaRPr lang="en-US" sz="1600" dirty="0"/>
          </a:p>
        </p:txBody>
      </p:sp>
      <p:sp>
        <p:nvSpPr>
          <p:cNvPr id="7" name="Module box"/>
          <p:cNvSpPr/>
          <p:nvPr/>
        </p:nvSpPr>
        <p:spPr>
          <a:xfrm>
            <a:off x="3200400" y="1737360"/>
            <a:ext cx="2377440" cy="1097280"/>
          </a:xfrm>
          <a:prstGeom prst="roundRect">
            <a:avLst>
              <a:gd name="adj" fmla="val 8333"/>
            </a:avLst>
          </a:prstGeom>
          <a:solidFill>
            <a:srgbClr val="1A4731"/>
          </a:solidFill>
          <a:ln/>
        </p:spPr>
      </p:sp>
      <p:sp>
        <p:nvSpPr>
          <p:cNvPr id="8" name="Module text"/>
          <p:cNvSpPr txBox="1"/>
          <p:nvPr/>
        </p:nvSpPr>
        <p:spPr>
          <a:xfrm>
            <a:off x="3291840" y="1737360"/>
            <a:ext cx="2194560" cy="1097280"/>
          </a:xfrm>
          <a:prstGeom prst="rect">
            <a:avLst/>
          </a:prstGeom>
          <a:noFill/>
          <a:ln/>
        </p:spPr>
        <p:txBody>
          <a:bodyPr wrap="square" lIns="0" tIns="0" rIns="0" bIns="0" rtlCol="0" anchor="ctr"/>
          <a:lstStyle/>
          <a:p>
            <a:pPr algn="ctr" indent="0" marL="0">
              <a:buNone/>
            </a:pPr>
            <a:r>
              <a:rPr lang="en-US" sz="1600" b="1" dirty="0">
                <a:solidFill>
                  <a:schemeClr val="bg1"/>
                </a:solidFill>
              </a:rPr>
              <a:t>main.py</a:t>
            </a:r>
            <a:endParaRPr lang="en-US" sz="1600" dirty="0"/>
          </a:p>
          <a:p>
            <a:pPr algn="ctr" indent="0" marL="0">
              <a:buNone/>
            </a:pPr>
            <a:r>
              <a:rPr lang="en-US" sz="1200" dirty="0">
                <a:solidFill>
                  <a:schemeClr val="accent6"/>
                </a:solidFill>
              </a:rPr>
              <a:t>loop, overlay, FPS</a:t>
            </a:r>
            <a:endParaRPr lang="en-US" sz="1600" dirty="0"/>
          </a:p>
        </p:txBody>
      </p:sp>
      <p:sp>
        <p:nvSpPr>
          <p:cNvPr id="9" name="Module box"/>
          <p:cNvSpPr/>
          <p:nvPr/>
        </p:nvSpPr>
        <p:spPr>
          <a:xfrm>
            <a:off x="6217920" y="1737360"/>
            <a:ext cx="2743200" cy="1097280"/>
          </a:xfrm>
          <a:prstGeom prst="roundRect">
            <a:avLst>
              <a:gd name="adj" fmla="val 8333"/>
            </a:avLst>
          </a:prstGeom>
          <a:solidFill>
            <a:srgbClr val="1A4731"/>
          </a:solidFill>
          <a:ln/>
        </p:spPr>
      </p:sp>
      <p:sp>
        <p:nvSpPr>
          <p:cNvPr id="10" name="Module text"/>
          <p:cNvSpPr txBox="1"/>
          <p:nvPr/>
        </p:nvSpPr>
        <p:spPr>
          <a:xfrm>
            <a:off x="6309360" y="1737360"/>
            <a:ext cx="2560320" cy="1097280"/>
          </a:xfrm>
          <a:prstGeom prst="rect">
            <a:avLst/>
          </a:prstGeom>
          <a:noFill/>
          <a:ln/>
        </p:spPr>
        <p:txBody>
          <a:bodyPr wrap="square" lIns="0" tIns="0" rIns="0" bIns="0" rtlCol="0" anchor="ctr"/>
          <a:lstStyle/>
          <a:p>
            <a:pPr algn="ctr" indent="0" marL="0">
              <a:buNone/>
            </a:pPr>
            <a:r>
              <a:rPr lang="en-US" sz="1600" b="1" dirty="0">
                <a:solidFill>
                  <a:schemeClr val="bg1"/>
                </a:solidFill>
              </a:rPr>
              <a:t>face_tracker.py</a:t>
            </a:r>
            <a:endParaRPr lang="en-US" sz="1600" dirty="0"/>
          </a:p>
          <a:p>
            <a:pPr algn="ctr" indent="0" marL="0">
              <a:buNone/>
            </a:pPr>
            <a:r>
              <a:rPr lang="en-US" sz="1200" dirty="0">
                <a:solidFill>
                  <a:schemeClr val="accent6"/>
                </a:solidFill>
              </a:rPr>
              <a:t>MultiFaceTracker, FaceState</a:t>
            </a:r>
            <a:endParaRPr lang="en-US" sz="1600" dirty="0"/>
          </a:p>
        </p:txBody>
      </p:sp>
      <p:sp>
        <p:nvSpPr>
          <p:cNvPr id="11" name="Module box"/>
          <p:cNvSpPr/>
          <p:nvPr/>
        </p:nvSpPr>
        <p:spPr>
          <a:xfrm>
            <a:off x="9235440" y="1737360"/>
            <a:ext cx="2377440" cy="1097280"/>
          </a:xfrm>
          <a:prstGeom prst="roundRect">
            <a:avLst>
              <a:gd name="adj" fmla="val 8333"/>
            </a:avLst>
          </a:prstGeom>
          <a:solidFill>
            <a:srgbClr val="F3EBD8"/>
          </a:solidFill>
          <a:ln/>
        </p:spPr>
      </p:sp>
      <p:sp>
        <p:nvSpPr>
          <p:cNvPr id="12" name="Module text"/>
          <p:cNvSpPr txBox="1"/>
          <p:nvPr/>
        </p:nvSpPr>
        <p:spPr>
          <a:xfrm>
            <a:off x="9326880" y="1737360"/>
            <a:ext cx="2194560" cy="1097280"/>
          </a:xfrm>
          <a:prstGeom prst="rect">
            <a:avLst/>
          </a:prstGeom>
          <a:noFill/>
          <a:ln/>
        </p:spPr>
        <p:txBody>
          <a:bodyPr wrap="square" lIns="0" tIns="0" rIns="0" bIns="0" rtlCol="0" anchor="ctr"/>
          <a:lstStyle/>
          <a:p>
            <a:pPr algn="ctr" indent="0" marL="0">
              <a:buNone/>
            </a:pPr>
            <a:r>
              <a:rPr lang="en-US" sz="1600" b="1" dirty="0">
                <a:solidFill>
                  <a:schemeClr val="tx2"/>
                </a:solidFill>
              </a:rPr>
              <a:t>kalman_filter.py</a:t>
            </a:r>
            <a:endParaRPr lang="en-US" sz="1600" dirty="0"/>
          </a:p>
          <a:p>
            <a:pPr algn="ctr" indent="0" marL="0">
              <a:buNone/>
            </a:pPr>
            <a:r>
              <a:rPr lang="en-US" sz="1200" dirty="0">
                <a:solidFill>
                  <a:schemeClr val="accent3"/>
                </a:solidFill>
              </a:rPr>
              <a:t>KalmanFilter2D</a:t>
            </a:r>
            <a:endParaRPr lang="en-US" sz="1600" dirty="0"/>
          </a:p>
        </p:txBody>
      </p:sp>
      <p:sp>
        <p:nvSpPr>
          <p:cNvPr id="13" name="Module box"/>
          <p:cNvSpPr/>
          <p:nvPr/>
        </p:nvSpPr>
        <p:spPr>
          <a:xfrm>
            <a:off x="3200400" y="3657600"/>
            <a:ext cx="2377440" cy="1097280"/>
          </a:xfrm>
          <a:prstGeom prst="roundRect">
            <a:avLst>
              <a:gd name="adj" fmla="val 8333"/>
            </a:avLst>
          </a:prstGeom>
          <a:solidFill>
            <a:srgbClr val="F3EBD8"/>
          </a:solidFill>
          <a:ln/>
        </p:spPr>
      </p:sp>
      <p:sp>
        <p:nvSpPr>
          <p:cNvPr id="14" name="Module text"/>
          <p:cNvSpPr txBox="1"/>
          <p:nvPr/>
        </p:nvSpPr>
        <p:spPr>
          <a:xfrm>
            <a:off x="3291840" y="3657600"/>
            <a:ext cx="2194560" cy="1097280"/>
          </a:xfrm>
          <a:prstGeom prst="rect">
            <a:avLst/>
          </a:prstGeom>
          <a:noFill/>
          <a:ln/>
        </p:spPr>
        <p:txBody>
          <a:bodyPr wrap="square" lIns="0" tIns="0" rIns="0" bIns="0" rtlCol="0" anchor="ctr"/>
          <a:lstStyle/>
          <a:p>
            <a:pPr algn="ctr" indent="0" marL="0">
              <a:buNone/>
            </a:pPr>
            <a:r>
              <a:rPr lang="en-US" sz="1600" b="1" dirty="0">
                <a:solidFill>
                  <a:schemeClr val="tx2"/>
                </a:solidFill>
              </a:rPr>
              <a:t>Live window</a:t>
            </a:r>
            <a:endParaRPr lang="en-US" sz="1600" dirty="0"/>
          </a:p>
          <a:p>
            <a:pPr algn="ctr" indent="0" marL="0">
              <a:buNone/>
            </a:pPr>
            <a:r>
              <a:rPr lang="en-US" sz="1200" dirty="0">
                <a:solidFill>
                  <a:schemeClr val="accent3"/>
                </a:solidFill>
              </a:rPr>
              <a:t>boxes, IDs, direction</a:t>
            </a:r>
            <a:endParaRPr lang="en-US" sz="1600" dirty="0"/>
          </a:p>
        </p:txBody>
      </p:sp>
      <p:sp>
        <p:nvSpPr>
          <p:cNvPr id="15" name="Module box"/>
          <p:cNvSpPr/>
          <p:nvPr/>
        </p:nvSpPr>
        <p:spPr>
          <a:xfrm>
            <a:off x="6217920" y="3657600"/>
            <a:ext cx="2743200" cy="1097280"/>
          </a:xfrm>
          <a:prstGeom prst="roundRect">
            <a:avLst>
              <a:gd name="adj" fmla="val 8333"/>
            </a:avLst>
          </a:prstGeom>
          <a:solidFill>
            <a:srgbClr val="1A4731"/>
          </a:solidFill>
          <a:ln/>
        </p:spPr>
      </p:sp>
      <p:sp>
        <p:nvSpPr>
          <p:cNvPr id="16" name="Module text"/>
          <p:cNvSpPr txBox="1"/>
          <p:nvPr/>
        </p:nvSpPr>
        <p:spPr>
          <a:xfrm>
            <a:off x="6309360" y="3657600"/>
            <a:ext cx="2560320" cy="1097280"/>
          </a:xfrm>
          <a:prstGeom prst="rect">
            <a:avLst/>
          </a:prstGeom>
          <a:noFill/>
          <a:ln/>
        </p:spPr>
        <p:txBody>
          <a:bodyPr wrap="square" lIns="0" tIns="0" rIns="0" bIns="0" rtlCol="0" anchor="ctr"/>
          <a:lstStyle/>
          <a:p>
            <a:pPr algn="ctr" indent="0" marL="0">
              <a:buNone/>
            </a:pPr>
            <a:r>
              <a:rPr lang="en-US" sz="1600" b="1" dirty="0">
                <a:solidFill>
                  <a:schemeClr val="bg1"/>
                </a:solidFill>
              </a:rPr>
              <a:t>analytics.py</a:t>
            </a:r>
            <a:endParaRPr lang="en-US" sz="1600" dirty="0"/>
          </a:p>
          <a:p>
            <a:pPr algn="ctr" indent="0" marL="0">
              <a:buNone/>
            </a:pPr>
            <a:r>
              <a:rPr lang="en-US" sz="1200" dirty="0">
                <a:solidFill>
                  <a:schemeClr val="accent6"/>
                </a:solidFill>
              </a:rPr>
              <a:t>generate_session_report()</a:t>
            </a:r>
            <a:endParaRPr lang="en-US" sz="1600" dirty="0"/>
          </a:p>
        </p:txBody>
      </p:sp>
      <p:sp>
        <p:nvSpPr>
          <p:cNvPr id="17" name="Module box"/>
          <p:cNvSpPr/>
          <p:nvPr/>
        </p:nvSpPr>
        <p:spPr>
          <a:xfrm>
            <a:off x="9235440" y="3657600"/>
            <a:ext cx="2377440" cy="1097280"/>
          </a:xfrm>
          <a:prstGeom prst="roundRect">
            <a:avLst>
              <a:gd name="adj" fmla="val 8333"/>
            </a:avLst>
          </a:prstGeom>
          <a:solidFill>
            <a:srgbClr val="F3EBD8"/>
          </a:solidFill>
          <a:ln/>
        </p:spPr>
      </p:sp>
      <p:sp>
        <p:nvSpPr>
          <p:cNvPr id="18" name="Module text"/>
          <p:cNvSpPr txBox="1"/>
          <p:nvPr/>
        </p:nvSpPr>
        <p:spPr>
          <a:xfrm>
            <a:off x="9326880" y="3657600"/>
            <a:ext cx="2194560" cy="1097280"/>
          </a:xfrm>
          <a:prstGeom prst="rect">
            <a:avLst/>
          </a:prstGeom>
          <a:noFill/>
          <a:ln/>
        </p:spPr>
        <p:txBody>
          <a:bodyPr wrap="square" lIns="0" tIns="0" rIns="0" bIns="0" rtlCol="0" anchor="ctr"/>
          <a:lstStyle/>
          <a:p>
            <a:pPr algn="ctr" indent="0" marL="0">
              <a:buNone/>
            </a:pPr>
            <a:r>
              <a:rPr lang="en-US" sz="1600" b="1" dirty="0">
                <a:solidFill>
                  <a:schemeClr val="tx2"/>
                </a:solidFill>
              </a:rPr>
              <a:t>session_report.png</a:t>
            </a:r>
            <a:endParaRPr lang="en-US" sz="1600" dirty="0"/>
          </a:p>
          <a:p>
            <a:pPr algn="ctr" indent="0" marL="0">
              <a:buNone/>
            </a:pPr>
            <a:r>
              <a:rPr lang="en-US" sz="1200" dirty="0">
                <a:solidFill>
                  <a:schemeClr val="accent3"/>
                </a:solidFill>
              </a:rPr>
              <a:t>aggregate + per-face</a:t>
            </a:r>
            <a:endParaRPr lang="en-US" sz="1600" dirty="0"/>
          </a:p>
        </p:txBody>
      </p:sp>
      <p:sp>
        <p:nvSpPr>
          <p:cNvPr id="19" name="Arrow"/>
          <p:cNvSpPr/>
          <p:nvPr/>
        </p:nvSpPr>
        <p:spPr>
          <a:xfrm>
            <a:off x="2560320" y="2286000"/>
            <a:ext cx="640080" cy="0"/>
          </a:xfrm>
          <a:prstGeom prst="line">
            <a:avLst/>
          </a:prstGeom>
          <a:noFill/>
          <a:ln w="31750">
            <a:solidFill>
              <a:schemeClr val="accent2"/>
            </a:solidFill>
            <a:prstDash val="solid"/>
            <a:tailEnd type="triangle"/>
          </a:ln>
        </p:spPr>
      </p:sp>
      <p:sp>
        <p:nvSpPr>
          <p:cNvPr id="20" name="Arrow"/>
          <p:cNvSpPr/>
          <p:nvPr/>
        </p:nvSpPr>
        <p:spPr>
          <a:xfrm>
            <a:off x="5577840" y="2286000"/>
            <a:ext cx="640080" cy="0"/>
          </a:xfrm>
          <a:prstGeom prst="line">
            <a:avLst/>
          </a:prstGeom>
          <a:noFill/>
          <a:ln w="31750">
            <a:solidFill>
              <a:schemeClr val="accent2"/>
            </a:solidFill>
            <a:prstDash val="solid"/>
            <a:tailEnd type="triangle"/>
          </a:ln>
        </p:spPr>
      </p:sp>
      <p:sp>
        <p:nvSpPr>
          <p:cNvPr id="21" name="Arrow"/>
          <p:cNvSpPr/>
          <p:nvPr/>
        </p:nvSpPr>
        <p:spPr>
          <a:xfrm>
            <a:off x="8961120" y="2286000"/>
            <a:ext cx="274320" cy="0"/>
          </a:xfrm>
          <a:prstGeom prst="line">
            <a:avLst/>
          </a:prstGeom>
          <a:noFill/>
          <a:ln w="31750">
            <a:solidFill>
              <a:schemeClr val="accent2"/>
            </a:solidFill>
            <a:prstDash val="solid"/>
            <a:tailEnd type="triangle"/>
          </a:ln>
        </p:spPr>
      </p:sp>
      <p:sp>
        <p:nvSpPr>
          <p:cNvPr id="22" name="Arrow"/>
          <p:cNvSpPr/>
          <p:nvPr/>
        </p:nvSpPr>
        <p:spPr>
          <a:xfrm>
            <a:off x="4389120" y="2834640"/>
            <a:ext cx="0" cy="822960"/>
          </a:xfrm>
          <a:prstGeom prst="line">
            <a:avLst/>
          </a:prstGeom>
          <a:noFill/>
          <a:ln w="31750">
            <a:solidFill>
              <a:schemeClr val="accent2"/>
            </a:solidFill>
            <a:prstDash val="solid"/>
            <a:tailEnd type="triangle"/>
          </a:ln>
        </p:spPr>
      </p:sp>
      <p:sp>
        <p:nvSpPr>
          <p:cNvPr id="23" name="Arrow"/>
          <p:cNvSpPr/>
          <p:nvPr/>
        </p:nvSpPr>
        <p:spPr>
          <a:xfrm>
            <a:off x="7589520" y="2834640"/>
            <a:ext cx="0" cy="822960"/>
          </a:xfrm>
          <a:prstGeom prst="line">
            <a:avLst/>
          </a:prstGeom>
          <a:noFill/>
          <a:ln w="31750">
            <a:solidFill>
              <a:schemeClr val="accent2"/>
            </a:solidFill>
            <a:prstDash val="solid"/>
            <a:tailEnd type="triangle"/>
          </a:ln>
        </p:spPr>
      </p:sp>
      <p:sp>
        <p:nvSpPr>
          <p:cNvPr id="24" name="Arrow"/>
          <p:cNvSpPr/>
          <p:nvPr/>
        </p:nvSpPr>
        <p:spPr>
          <a:xfrm>
            <a:off x="8961120" y="4206240"/>
            <a:ext cx="274320" cy="0"/>
          </a:xfrm>
          <a:prstGeom prst="line">
            <a:avLst/>
          </a:prstGeom>
          <a:noFill/>
          <a:ln w="31750">
            <a:solidFill>
              <a:schemeClr val="accent2"/>
            </a:solidFill>
            <a:prstDash val="solid"/>
            <a:tailEnd type="triangle"/>
          </a:ln>
        </p:spPr>
      </p:sp>
      <p:sp>
        <p:nvSpPr>
          <p:cNvPr id="25" name="Note card"/>
          <p:cNvSpPr/>
          <p:nvPr/>
        </p:nvSpPr>
        <p:spPr>
          <a:xfrm>
            <a:off x="548640" y="5120640"/>
            <a:ext cx="11064240" cy="1005840"/>
          </a:xfrm>
          <a:prstGeom prst="roundRect">
            <a:avLst>
              <a:gd name="adj" fmla="val 9091"/>
            </a:avLst>
          </a:prstGeom>
          <a:solidFill>
            <a:srgbClr val="FAF7EF"/>
          </a:solidFill>
          <a:ln/>
        </p:spPr>
      </p:sp>
      <p:sp>
        <p:nvSpPr>
          <p:cNvPr id="26" name="Architecture note"/>
          <p:cNvSpPr txBox="1"/>
          <p:nvPr/>
        </p:nvSpPr>
        <p:spPr>
          <a:xfrm>
            <a:off x="822960" y="5120640"/>
            <a:ext cx="10515600" cy="1005840"/>
          </a:xfrm>
          <a:prstGeom prst="rect">
            <a:avLst/>
          </a:prstGeom>
          <a:noFill/>
          <a:ln/>
        </p:spPr>
        <p:txBody>
          <a:bodyPr wrap="square" lIns="0" tIns="0" rIns="0" bIns="0" rtlCol="0" anchor="ctr"/>
          <a:lstStyle/>
          <a:p>
            <a:pPr indent="0" marL="0">
              <a:buNone/>
            </a:pPr>
            <a:r>
              <a:rPr lang="en-US" sz="1600" dirty="0">
                <a:solidFill>
                  <a:schemeClr val="tx1"/>
                </a:solidFill>
              </a:rPr>
              <a:t>Version 1 is a single, independent script (main2.py) that uses only OpenCV Haar cascades, so it needs none of these modules.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Tools and Technologies Used</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SOFTWARE STACK</a:t>
            </a:r>
            <a:endParaRPr lang="en-US" sz="1200" dirty="0"/>
          </a:p>
        </p:txBody>
      </p:sp>
      <p:graphicFrame>
        <p:nvGraphicFramePr>
          <p:cNvPr id="11" name="Tools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651760"/>
                <a:gridCol w="6766560"/>
                <a:gridCol w="1645920"/>
              </a:tblGrid>
              <a:tr h="62179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Technology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Used for</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Version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Python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Programming language for the whole project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1 and 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OpenCV</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Webcam capture, drawing, HSV histograms, Kalman filter</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1 and 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Haar cascades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Face, eye and smile detection (Viola-Jones)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MediaPipe 0.10.14</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Fast face detection with nose keypoint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NumPy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Matrices for the Kalman filter</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Matplotlib</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Pie charts and the cumulative session report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Implementation</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KEY ALGORITHMS AND PARAMETERS</a:t>
            </a:r>
            <a:endParaRPr lang="en-US" sz="1200" dirty="0"/>
          </a:p>
        </p:txBody>
      </p:sp>
      <p:sp>
        <p:nvSpPr>
          <p:cNvPr id="5" name="Code card"/>
          <p:cNvSpPr/>
          <p:nvPr/>
        </p:nvSpPr>
        <p:spPr>
          <a:xfrm>
            <a:off x="548640" y="1691640"/>
            <a:ext cx="5669280" cy="4434840"/>
          </a:xfrm>
          <a:prstGeom prst="roundRect">
            <a:avLst>
              <a:gd name="adj" fmla="val 2062"/>
            </a:avLst>
          </a:prstGeom>
          <a:solidFill>
            <a:srgbClr val="1A4731"/>
          </a:solidFill>
          <a:ln/>
        </p:spPr>
      </p:sp>
      <p:sp>
        <p:nvSpPr>
          <p:cNvPr id="6" name="Code heading"/>
          <p:cNvSpPr txBox="1"/>
          <p:nvPr/>
        </p:nvSpPr>
        <p:spPr>
          <a:xfrm>
            <a:off x="822960" y="1828800"/>
            <a:ext cx="5120640" cy="365760"/>
          </a:xfrm>
          <a:prstGeom prst="rect">
            <a:avLst/>
          </a:prstGeom>
          <a:noFill/>
          <a:ln/>
        </p:spPr>
        <p:txBody>
          <a:bodyPr wrap="square" lIns="0" tIns="0" rIns="0" bIns="0" rtlCol="0" anchor="ctr"/>
          <a:lstStyle/>
          <a:p>
            <a:pPr indent="0" marL="0">
              <a:buNone/>
            </a:pPr>
            <a:r>
              <a:rPr lang="en-US" sz="1400" b="1" dirty="0">
                <a:solidFill>
                  <a:schemeClr val="accent6"/>
                </a:solidFill>
              </a:rPr>
              <a:t>Direction rule (face_tracker.py)</a:t>
            </a:r>
            <a:endParaRPr lang="en-US" sz="1400" dirty="0"/>
          </a:p>
        </p:txBody>
      </p:sp>
      <p:sp>
        <p:nvSpPr>
          <p:cNvPr id="7" name="Code snippet"/>
          <p:cNvSpPr txBox="1"/>
          <p:nvPr/>
        </p:nvSpPr>
        <p:spPr>
          <a:xfrm>
            <a:off x="822960" y="2331720"/>
            <a:ext cx="5120640" cy="3566160"/>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ox = (nx - cx) / (bw / 2)</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oy = (ny - cy) / (bh / 2)</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if abs(ox) &lt; 0.08 and abs(oy) &lt; 0.08:</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return "Center"</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if abs(ox) &gt; abs(oy):</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return "Right" if ox &gt; 0 else "Left"</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return "Down" if oy &gt; 0 else "Up"</a:t>
            </a:r>
            <a:endParaRPr lang="en-US" sz="1600" dirty="0"/>
          </a:p>
        </p:txBody>
      </p:sp>
      <p:sp>
        <p:nvSpPr>
          <p:cNvPr id="8" name="Parameter row"/>
          <p:cNvSpPr/>
          <p:nvPr/>
        </p:nvSpPr>
        <p:spPr>
          <a:xfrm>
            <a:off x="6400800" y="1691640"/>
            <a:ext cx="5212080" cy="804672"/>
          </a:xfrm>
          <a:prstGeom prst="roundRect">
            <a:avLst>
              <a:gd name="adj" fmla="val 11364"/>
            </a:avLst>
          </a:prstGeom>
          <a:solidFill>
            <a:srgbClr val="F3EBD8"/>
          </a:solidFill>
          <a:ln/>
        </p:spPr>
      </p:sp>
      <p:sp>
        <p:nvSpPr>
          <p:cNvPr id="9" name="Parameter text"/>
          <p:cNvSpPr txBox="1"/>
          <p:nvPr/>
        </p:nvSpPr>
        <p:spPr>
          <a:xfrm>
            <a:off x="6629400" y="1691640"/>
            <a:ext cx="4846320" cy="804672"/>
          </a:xfrm>
          <a:prstGeom prst="rect">
            <a:avLst/>
          </a:prstGeom>
          <a:noFill/>
          <a:ln/>
        </p:spPr>
        <p:txBody>
          <a:bodyPr wrap="square" lIns="0" tIns="0" rIns="0" bIns="0" rtlCol="0" anchor="ctr"/>
          <a:lstStyle/>
          <a:p>
            <a:pPr indent="0" marL="0">
              <a:buNone/>
            </a:pPr>
            <a:r>
              <a:rPr lang="en-US" sz="1500" b="1" dirty="0">
                <a:solidFill>
                  <a:schemeClr val="tx2"/>
                </a:solidFill>
              </a:rPr>
              <a:t>Kalman filter</a:t>
            </a:r>
            <a:endParaRPr lang="en-US" sz="1500" dirty="0"/>
          </a:p>
          <a:p>
            <a:pPr indent="0" marL="0">
              <a:buNone/>
            </a:pPr>
            <a:r>
              <a:rPr lang="en-US" sz="1400" dirty="0">
                <a:solidFill>
                  <a:schemeClr val="tx1"/>
                </a:solidFill>
              </a:rPr>
              <a:t>State [x, y, dx, dy], dt 0.033, noise Q 0.05, R 0.1</a:t>
            </a:r>
            <a:endParaRPr lang="en-US" sz="1500" dirty="0"/>
          </a:p>
        </p:txBody>
      </p:sp>
      <p:sp>
        <p:nvSpPr>
          <p:cNvPr id="10" name="Parameter row"/>
          <p:cNvSpPr/>
          <p:nvPr/>
        </p:nvSpPr>
        <p:spPr>
          <a:xfrm>
            <a:off x="6400800" y="2596896"/>
            <a:ext cx="5212080" cy="804672"/>
          </a:xfrm>
          <a:prstGeom prst="roundRect">
            <a:avLst>
              <a:gd name="adj" fmla="val 11364"/>
            </a:avLst>
          </a:prstGeom>
          <a:solidFill>
            <a:srgbClr val="F3EBD8"/>
          </a:solidFill>
          <a:ln/>
        </p:spPr>
      </p:sp>
      <p:sp>
        <p:nvSpPr>
          <p:cNvPr id="11" name="Parameter text"/>
          <p:cNvSpPr txBox="1"/>
          <p:nvPr/>
        </p:nvSpPr>
        <p:spPr>
          <a:xfrm>
            <a:off x="6629400" y="2596896"/>
            <a:ext cx="4846320" cy="804672"/>
          </a:xfrm>
          <a:prstGeom prst="rect">
            <a:avLst/>
          </a:prstGeom>
          <a:noFill/>
          <a:ln/>
        </p:spPr>
        <p:txBody>
          <a:bodyPr wrap="square" lIns="0" tIns="0" rIns="0" bIns="0" rtlCol="0" anchor="ctr"/>
          <a:lstStyle/>
          <a:p>
            <a:pPr indent="0" marL="0">
              <a:buNone/>
            </a:pPr>
            <a:r>
              <a:rPr lang="en-US" sz="1500" b="1" dirty="0">
                <a:solidFill>
                  <a:schemeClr val="tx2"/>
                </a:solidFill>
              </a:rPr>
              <a:t>Association score</a:t>
            </a:r>
            <a:endParaRPr lang="en-US" sz="1500" dirty="0"/>
          </a:p>
          <a:p>
            <a:pPr indent="0" marL="0">
              <a:buNone/>
            </a:pPr>
            <a:r>
              <a:rPr lang="en-US" sz="1400" dirty="0">
                <a:solidFill>
                  <a:schemeClr val="tx1"/>
                </a:solidFill>
              </a:rPr>
              <a:t>0.7 x distance + 0.3 x visual similarity</a:t>
            </a:r>
            <a:endParaRPr lang="en-US" sz="1500" dirty="0"/>
          </a:p>
        </p:txBody>
      </p:sp>
      <p:sp>
        <p:nvSpPr>
          <p:cNvPr id="12" name="Parameter row"/>
          <p:cNvSpPr/>
          <p:nvPr/>
        </p:nvSpPr>
        <p:spPr>
          <a:xfrm>
            <a:off x="6400800" y="3502152"/>
            <a:ext cx="5212080" cy="804672"/>
          </a:xfrm>
          <a:prstGeom prst="roundRect">
            <a:avLst>
              <a:gd name="adj" fmla="val 11364"/>
            </a:avLst>
          </a:prstGeom>
          <a:solidFill>
            <a:srgbClr val="F3EBD8"/>
          </a:solidFill>
          <a:ln/>
        </p:spPr>
      </p:sp>
      <p:sp>
        <p:nvSpPr>
          <p:cNvPr id="13" name="Parameter text"/>
          <p:cNvSpPr txBox="1"/>
          <p:nvPr/>
        </p:nvSpPr>
        <p:spPr>
          <a:xfrm>
            <a:off x="6629400" y="3502152"/>
            <a:ext cx="4846320" cy="804672"/>
          </a:xfrm>
          <a:prstGeom prst="rect">
            <a:avLst/>
          </a:prstGeom>
          <a:noFill/>
          <a:ln/>
        </p:spPr>
        <p:txBody>
          <a:bodyPr wrap="square" lIns="0" tIns="0" rIns="0" bIns="0" rtlCol="0" anchor="ctr"/>
          <a:lstStyle/>
          <a:p>
            <a:pPr indent="0" marL="0">
              <a:buNone/>
            </a:pPr>
            <a:r>
              <a:rPr lang="en-US" sz="1500" b="1" dirty="0">
                <a:solidFill>
                  <a:schemeClr val="tx2"/>
                </a:solidFill>
              </a:rPr>
              <a:t>Re-identification</a:t>
            </a:r>
            <a:endParaRPr lang="en-US" sz="1500" dirty="0"/>
          </a:p>
          <a:p>
            <a:pPr indent="0" marL="0">
              <a:buNone/>
            </a:pPr>
            <a:r>
              <a:rPr lang="en-US" sz="1400" dirty="0">
                <a:solidFill>
                  <a:schemeClr val="tx1"/>
                </a:solidFill>
              </a:rPr>
              <a:t>16x16 HSV histogram, correlation above 0.45</a:t>
            </a:r>
            <a:endParaRPr lang="en-US" sz="1500" dirty="0"/>
          </a:p>
        </p:txBody>
      </p:sp>
      <p:sp>
        <p:nvSpPr>
          <p:cNvPr id="14" name="Parameter row"/>
          <p:cNvSpPr/>
          <p:nvPr/>
        </p:nvSpPr>
        <p:spPr>
          <a:xfrm>
            <a:off x="6400800" y="4407408"/>
            <a:ext cx="5212080" cy="804672"/>
          </a:xfrm>
          <a:prstGeom prst="roundRect">
            <a:avLst>
              <a:gd name="adj" fmla="val 11364"/>
            </a:avLst>
          </a:prstGeom>
          <a:solidFill>
            <a:srgbClr val="F3EBD8"/>
          </a:solidFill>
          <a:ln/>
        </p:spPr>
      </p:sp>
      <p:sp>
        <p:nvSpPr>
          <p:cNvPr id="15" name="Parameter text"/>
          <p:cNvSpPr txBox="1"/>
          <p:nvPr/>
        </p:nvSpPr>
        <p:spPr>
          <a:xfrm>
            <a:off x="6629400" y="4407408"/>
            <a:ext cx="4846320" cy="804672"/>
          </a:xfrm>
          <a:prstGeom prst="rect">
            <a:avLst/>
          </a:prstGeom>
          <a:noFill/>
          <a:ln/>
        </p:spPr>
        <p:txBody>
          <a:bodyPr wrap="square" lIns="0" tIns="0" rIns="0" bIns="0" rtlCol="0" anchor="ctr"/>
          <a:lstStyle/>
          <a:p>
            <a:pPr indent="0" marL="0">
              <a:buNone/>
            </a:pPr>
            <a:r>
              <a:rPr lang="en-US" sz="1500" b="1" dirty="0">
                <a:solidFill>
                  <a:schemeClr val="tx2"/>
                </a:solidFill>
              </a:rPr>
              <a:t>Lost track</a:t>
            </a:r>
            <a:endParaRPr lang="en-US" sz="1500" dirty="0"/>
          </a:p>
          <a:p>
            <a:pPr indent="0" marL="0">
              <a:buNone/>
            </a:pPr>
            <a:r>
              <a:rPr lang="en-US" sz="1400" dirty="0">
                <a:solidFill>
                  <a:schemeClr val="tx1"/>
                </a:solidFill>
              </a:rPr>
              <a:t>Dropped after 45 missed frames</a:t>
            </a:r>
            <a:endParaRPr lang="en-US" sz="1500" dirty="0"/>
          </a:p>
        </p:txBody>
      </p:sp>
      <p:sp>
        <p:nvSpPr>
          <p:cNvPr id="16" name="Parameter row"/>
          <p:cNvSpPr/>
          <p:nvPr/>
        </p:nvSpPr>
        <p:spPr>
          <a:xfrm>
            <a:off x="6400800" y="5312664"/>
            <a:ext cx="5212080" cy="804672"/>
          </a:xfrm>
          <a:prstGeom prst="roundRect">
            <a:avLst>
              <a:gd name="adj" fmla="val 11364"/>
            </a:avLst>
          </a:prstGeom>
          <a:solidFill>
            <a:srgbClr val="F3EBD8"/>
          </a:solidFill>
          <a:ln/>
        </p:spPr>
      </p:sp>
      <p:sp>
        <p:nvSpPr>
          <p:cNvPr id="17" name="Parameter text"/>
          <p:cNvSpPr txBox="1"/>
          <p:nvPr/>
        </p:nvSpPr>
        <p:spPr>
          <a:xfrm>
            <a:off x="6629400" y="5312664"/>
            <a:ext cx="4846320" cy="804672"/>
          </a:xfrm>
          <a:prstGeom prst="rect">
            <a:avLst/>
          </a:prstGeom>
          <a:noFill/>
          <a:ln/>
        </p:spPr>
        <p:txBody>
          <a:bodyPr wrap="square" lIns="0" tIns="0" rIns="0" bIns="0" rtlCol="0" anchor="ctr"/>
          <a:lstStyle/>
          <a:p>
            <a:pPr indent="0" marL="0">
              <a:buNone/>
            </a:pPr>
            <a:r>
              <a:rPr lang="en-US" sz="1500" b="1" dirty="0">
                <a:solidFill>
                  <a:schemeClr val="tx2"/>
                </a:solidFill>
              </a:rPr>
              <a:t>Report filter</a:t>
            </a:r>
            <a:endParaRPr lang="en-US" sz="1500" dirty="0"/>
          </a:p>
          <a:p>
            <a:pPr indent="0" marL="0">
              <a:buNone/>
            </a:pPr>
            <a:r>
              <a:rPr lang="en-US" sz="1400" dirty="0">
                <a:solidFill>
                  <a:schemeClr val="tx1"/>
                </a:solidFill>
              </a:rPr>
              <a:t>Faces seen under 2 s are ignored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Results and Discussion</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OUTPUT AND COMPARISON</a:t>
            </a:r>
            <a:endParaRPr lang="en-US" sz="1200" dirty="0"/>
          </a:p>
        </p:txBody>
      </p:sp>
      <p:graphicFrame>
        <p:nvGraphicFramePr>
          <p:cNvPr id="13" name="Comparison table"/>
          <p:cNvGraphicFramePr>
            <a:graphicFrameLocks noGrp="1"/>
          </p:cNvGraphicFramePr>
          <p:nvPr>
            <p:extLst>
              <p:ext uri="{D42A27DB-BD31-4B8C-83A1-F6EECF244321}">
                <p14:modId xmlns:p14="http://schemas.microsoft.com/office/powerpoint/2010/main" val="1579011935"/>
              </p:ext>
            </p:extLst>
          </p:nvPr>
        </p:nvGraphicFramePr>
        <p:xfrm>
          <a:off x="548640" y="1691640"/>
          <a:ext cx="7223760" cy="914400"/>
        </p:xfrm>
        <a:graphic>
          <a:graphicData uri="http://schemas.openxmlformats.org/drawingml/2006/table">
            <a:tbl>
              <a:tblPr/>
              <a:tblGrid>
                <a:gridCol w="1828800"/>
                <a:gridCol w="2560320"/>
                <a:gridCol w="283464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Feature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Version 1</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Version 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Detector</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Haar cascades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MediaPipe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Faces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Largest only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Multiple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Identity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None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Persistent IDs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Accuracy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Moderate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Extremely high</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Speed</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Blazingly fast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Fast, more RAM</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Report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None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Cumulative PNG</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bl>
          </a:graphicData>
        </a:graphic>
      </p:graphicFrame>
      <p:pic>
        <p:nvPicPr>
          <p:cNvPr id="6" name="Session report" descr="Session report from a test run: overall and per-face direction distribution pie charts">    </p:cNvPr>
          <p:cNvPicPr>
            <a:picLocks noChangeAspect="1"/>
          </p:cNvPicPr>
          <p:nvPr/>
        </p:nvPicPr>
        <p:blipFill>
          <a:blip r:embed="rId1"/>
          <a:stretch>
            <a:fillRect/>
          </a:stretch>
        </p:blipFill>
        <p:spPr>
          <a:xfrm>
            <a:off x="8138160" y="1691640"/>
            <a:ext cx="3392424" cy="4526280"/>
          </a:xfrm>
          <a:prstGeom prst="rect">
            <a:avLst/>
          </a:prstGeom>
        </p:spPr>
      </p:pic>
      <p:sp>
        <p:nvSpPr>
          <p:cNvPr id="7" name="Discussion"/>
          <p:cNvSpPr txBox="1"/>
          <p:nvPr/>
        </p:nvSpPr>
        <p:spPr>
          <a:xfrm>
            <a:off x="548640" y="5394960"/>
            <a:ext cx="7223760" cy="822960"/>
          </a:xfrm>
          <a:prstGeom prst="rect">
            <a:avLst/>
          </a:prstGeom>
          <a:noFill/>
          <a:ln/>
        </p:spPr>
        <p:txBody>
          <a:bodyPr wrap="square" lIns="0" tIns="0" rIns="0" bIns="0" rtlCol="0" anchor="t"/>
          <a:lstStyle/>
          <a:p>
            <a:pPr indent="0" marL="0">
              <a:buNone/>
            </a:pPr>
            <a:r>
              <a:rPr lang="en-US" sz="1600" dirty="0">
                <a:solidFill>
                  <a:schemeClr val="tx1"/>
                </a:solidFill>
              </a:rPr>
              <a:t>In the test run the report found 3 unique faces over 40.7 s. Version 2 trades extra RAM for better accuracy, stable IDs and this report; Version 1 stays useful where resources are limited.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Limitations and Future Scope</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HONEST LIMITS AND NEXT STEPS</a:t>
            </a:r>
            <a:endParaRPr lang="en-US" sz="1200" dirty="0"/>
          </a:p>
        </p:txBody>
      </p:sp>
      <p:sp>
        <p:nvSpPr>
          <p:cNvPr id="5" name="Limitations card"/>
          <p:cNvSpPr/>
          <p:nvPr/>
        </p:nvSpPr>
        <p:spPr>
          <a:xfrm>
            <a:off x="548640" y="1691640"/>
            <a:ext cx="5440680" cy="4434840"/>
          </a:xfrm>
          <a:prstGeom prst="roundRect">
            <a:avLst>
              <a:gd name="adj" fmla="val 2062"/>
            </a:avLst>
          </a:prstGeom>
          <a:solidFill>
            <a:srgbClr val="F3EBD8"/>
          </a:solidFill>
          <a:ln/>
        </p:spPr>
      </p:sp>
      <p:sp>
        <p:nvSpPr>
          <p:cNvPr id="6" name="Limitations text"/>
          <p:cNvSpPr txBox="1"/>
          <p:nvPr/>
        </p:nvSpPr>
        <p:spPr>
          <a:xfrm>
            <a:off x="822960" y="1920240"/>
            <a:ext cx="4937760" cy="4023360"/>
          </a:xfrm>
          <a:prstGeom prst="rect">
            <a:avLst/>
          </a:prstGeom>
          <a:noFill/>
          <a:ln/>
        </p:spPr>
        <p:txBody>
          <a:bodyPr wrap="square" lIns="0" tIns="0" rIns="0" bIns="0" rtlCol="0" anchor="t"/>
          <a:lstStyle/>
          <a:p>
            <a:pPr indent="0" marL="0">
              <a:spcAft>
                <a:spcPts val="1000"/>
              </a:spcAft>
              <a:buNone/>
            </a:pPr>
            <a:r>
              <a:rPr lang="en-US" sz="1200" b="1" spc="200" kern="0" dirty="0">
                <a:solidFill>
                  <a:schemeClr val="accent2"/>
                </a:solidFill>
              </a:rPr>
              <a:t>LIMITATIONS</a:t>
            </a:r>
            <a:endParaRPr lang="en-US" sz="1800" dirty="0"/>
          </a:p>
          <a:p>
            <a:pPr marL="342900" indent="-342900">
              <a:spcAft>
                <a:spcPts val="1000"/>
              </a:spcAft>
              <a:buSzPct val="100000"/>
              <a:buChar char="•"/>
            </a:pPr>
            <a:r>
              <a:rPr lang="en-US" sz="1800" dirty="0">
                <a:solidFill>
                  <a:schemeClr val="tx1"/>
                </a:solidFill>
              </a:rPr>
              <a:t>Direction is estimated from the nose position, not true 3D head pose.</a:t>
            </a:r>
            <a:endParaRPr lang="en-US" sz="1800" dirty="0"/>
          </a:p>
          <a:p>
            <a:pPr marL="342900" indent="-342900">
              <a:spcAft>
                <a:spcPts val="1000"/>
              </a:spcAft>
              <a:buSzPct val="100000"/>
              <a:buChar char="•"/>
            </a:pPr>
            <a:r>
              <a:rPr lang="en-US" sz="1800" dirty="0">
                <a:solidFill>
                  <a:schemeClr val="tx1"/>
                </a:solidFill>
              </a:rPr>
              <a:t>Colour-histogram re-ID is affected by lighting changes.</a:t>
            </a:r>
            <a:endParaRPr lang="en-US" sz="1800" dirty="0"/>
          </a:p>
          <a:p>
            <a:pPr marL="342900" indent="-342900">
              <a:spcAft>
                <a:spcPts val="1000"/>
              </a:spcAft>
              <a:buSzPct val="100000"/>
              <a:buChar char="•"/>
            </a:pPr>
            <a:r>
              <a:rPr lang="en-US" sz="1800" dirty="0">
                <a:solidFill>
                  <a:schemeClr val="tx1"/>
                </a:solidFill>
              </a:rPr>
              <a:t>Greedy matching can still err in crowded frames.</a:t>
            </a:r>
            <a:endParaRPr lang="en-US" sz="1800" dirty="0"/>
          </a:p>
          <a:p>
            <a:pPr marL="342900" indent="-342900">
              <a:spcAft>
                <a:spcPts val="1000"/>
              </a:spcAft>
              <a:buSzPct val="100000"/>
              <a:buChar char="•"/>
            </a:pPr>
            <a:r>
              <a:rPr lang="en-US" sz="1800" dirty="0">
                <a:solidFill>
                  <a:schemeClr val="tx1"/>
                </a:solidFill>
              </a:rPr>
              <a:t>Kalman time step is fixed at 1/30 s.</a:t>
            </a:r>
            <a:endParaRPr lang="en-US" sz="1800" dirty="0"/>
          </a:p>
          <a:p>
            <a:pPr marL="342900" indent="-342900">
              <a:spcAft>
                <a:spcPts val="1000"/>
              </a:spcAft>
              <a:buSzPct val="100000"/>
              <a:buChar char="•"/>
            </a:pPr>
            <a:r>
              <a:rPr lang="en-US" sz="1800" dirty="0">
                <a:solidFill>
                  <a:schemeClr val="tx1"/>
                </a:solidFill>
              </a:rPr>
              <a:t>Report shows at most 5 faces; Version 1 tracks one face.</a:t>
            </a:r>
            <a:endParaRPr lang="en-US" sz="1800" dirty="0"/>
          </a:p>
        </p:txBody>
      </p:sp>
      <p:sp>
        <p:nvSpPr>
          <p:cNvPr id="7" name="Future scope card"/>
          <p:cNvSpPr/>
          <p:nvPr/>
        </p:nvSpPr>
        <p:spPr>
          <a:xfrm>
            <a:off x="6172200" y="1691640"/>
            <a:ext cx="5440680" cy="4434840"/>
          </a:xfrm>
          <a:prstGeom prst="roundRect">
            <a:avLst>
              <a:gd name="adj" fmla="val 2062"/>
            </a:avLst>
          </a:prstGeom>
          <a:solidFill>
            <a:srgbClr val="1A4731"/>
          </a:solidFill>
          <a:ln/>
        </p:spPr>
      </p:sp>
      <p:sp>
        <p:nvSpPr>
          <p:cNvPr id="8" name="Future text"/>
          <p:cNvSpPr txBox="1"/>
          <p:nvPr/>
        </p:nvSpPr>
        <p:spPr>
          <a:xfrm>
            <a:off x="6446520" y="1920240"/>
            <a:ext cx="4937760" cy="4023360"/>
          </a:xfrm>
          <a:prstGeom prst="rect">
            <a:avLst/>
          </a:prstGeom>
          <a:noFill/>
          <a:ln/>
        </p:spPr>
        <p:txBody>
          <a:bodyPr wrap="square" lIns="0" tIns="0" rIns="0" bIns="0" rtlCol="0" anchor="t"/>
          <a:lstStyle/>
          <a:p>
            <a:pPr indent="0" marL="0">
              <a:spcAft>
                <a:spcPts val="1000"/>
              </a:spcAft>
              <a:buNone/>
            </a:pPr>
            <a:r>
              <a:rPr lang="en-US" sz="1200" b="1" spc="200" kern="0" dirty="0">
                <a:solidFill>
                  <a:schemeClr val="accent6"/>
                </a:solidFill>
              </a:rPr>
              <a:t>FUTURE SCOPE</a:t>
            </a:r>
            <a:endParaRPr lang="en-US" sz="1800" dirty="0"/>
          </a:p>
          <a:p>
            <a:pPr marL="342900" indent="-342900">
              <a:spcAft>
                <a:spcPts val="1000"/>
              </a:spcAft>
              <a:buSzPct val="100000"/>
              <a:buChar char="•"/>
            </a:pPr>
            <a:r>
              <a:rPr lang="en-US" sz="1800" dirty="0">
                <a:solidFill>
                  <a:schemeClr val="bg1"/>
                </a:solidFill>
              </a:rPr>
              <a:t>Use face-mesh landmarks to compute real yaw, pitch and roll.</a:t>
            </a:r>
            <a:endParaRPr lang="en-US" sz="1800" dirty="0"/>
          </a:p>
          <a:p>
            <a:pPr marL="342900" indent="-342900">
              <a:spcAft>
                <a:spcPts val="1000"/>
              </a:spcAft>
              <a:buSzPct val="100000"/>
              <a:buChar char="•"/>
            </a:pPr>
            <a:r>
              <a:rPr lang="en-US" sz="1800" dirty="0">
                <a:solidFill>
                  <a:schemeClr val="bg1"/>
                </a:solidFill>
              </a:rPr>
              <a:t>Replace histograms with deep face embeddings for re-ID.</a:t>
            </a:r>
            <a:endParaRPr lang="en-US" sz="1800" dirty="0"/>
          </a:p>
          <a:p>
            <a:pPr marL="342900" indent="-342900">
              <a:spcAft>
                <a:spcPts val="1000"/>
              </a:spcAft>
              <a:buSzPct val="100000"/>
              <a:buChar char="•"/>
            </a:pPr>
            <a:r>
              <a:rPr lang="en-US" sz="1800" dirty="0">
                <a:solidFill>
                  <a:schemeClr val="bg1"/>
                </a:solidFill>
              </a:rPr>
              <a:t>Use Hungarian matching and the measured frame time.</a:t>
            </a:r>
            <a:endParaRPr lang="en-US" sz="1800" dirty="0"/>
          </a:p>
          <a:p>
            <a:pPr marL="342900" indent="-342900">
              <a:spcAft>
                <a:spcPts val="1000"/>
              </a:spcAft>
              <a:buSzPct val="100000"/>
              <a:buChar char="•"/>
            </a:pPr>
            <a:r>
              <a:rPr lang="en-US" sz="1800" dirty="0">
                <a:solidFill>
                  <a:schemeClr val="bg1"/>
                </a:solidFill>
              </a:rPr>
              <a:t>Export statistics as CSV and show a live dashboard.</a:t>
            </a:r>
            <a:endParaRPr lang="en-US" sz="1800" dirty="0"/>
          </a:p>
          <a:p>
            <a:pPr marL="342900" indent="-342900">
              <a:spcAft>
                <a:spcPts val="1000"/>
              </a:spcAft>
              <a:buSzPct val="100000"/>
              <a:buChar char="•"/>
            </a:pPr>
            <a:r>
              <a:rPr lang="en-US" sz="1800" dirty="0">
                <a:solidFill>
                  <a:schemeClr val="bg1"/>
                </a:solidFill>
              </a:rPr>
              <a:t>Build a browser-based version using the web camera.</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Conclusion</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SUMMARY</a:t>
            </a:r>
            <a:endParaRPr lang="en-US" sz="1200" dirty="0"/>
          </a:p>
        </p:txBody>
      </p:sp>
      <p:sp>
        <p:nvSpPr>
          <p:cNvPr id="5" name="Conclusion text"/>
          <p:cNvSpPr txBox="1"/>
          <p:nvPr/>
        </p:nvSpPr>
        <p:spPr>
          <a:xfrm>
            <a:off x="548640" y="1691640"/>
            <a:ext cx="5760720" cy="438912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The tracker follows several faces at once and keeps each person's ID stable.</a:t>
            </a:r>
            <a:endParaRPr lang="en-US" sz="2000" dirty="0"/>
          </a:p>
          <a:p>
            <a:pPr marL="342900" indent="-342900">
              <a:spcAft>
                <a:spcPts val="1400"/>
              </a:spcAft>
              <a:buSzPct val="100000"/>
              <a:buChar char="•"/>
            </a:pPr>
            <a:r>
              <a:rPr lang="en-US" sz="2000" dirty="0">
                <a:solidFill>
                  <a:schemeClr val="tx1"/>
                </a:solidFill>
              </a:rPr>
              <a:t>Kalman filtering and histogram re-identification cope with brief occlusion and returning faces.</a:t>
            </a:r>
            <a:endParaRPr lang="en-US" sz="2000" dirty="0"/>
          </a:p>
          <a:p>
            <a:pPr marL="342900" indent="-342900">
              <a:spcAft>
                <a:spcPts val="1400"/>
              </a:spcAft>
              <a:buSzPct val="100000"/>
              <a:buChar char="•"/>
            </a:pPr>
            <a:r>
              <a:rPr lang="en-US" sz="2000" dirty="0">
                <a:solidFill>
                  <a:schemeClr val="tx1"/>
                </a:solidFill>
              </a:rPr>
              <a:t>The cumulative report turns tracking into attention statistics per person and for the whole session.</a:t>
            </a:r>
            <a:endParaRPr lang="en-US" sz="2000" dirty="0"/>
          </a:p>
          <a:p>
            <a:pPr marL="342900" indent="-342900">
              <a:spcAft>
                <a:spcPts val="1400"/>
              </a:spcAft>
              <a:buSzPct val="100000"/>
              <a:buChar char="•"/>
            </a:pPr>
            <a:r>
              <a:rPr lang="en-US" sz="2000" dirty="0">
                <a:solidFill>
                  <a:schemeClr val="tx1"/>
                </a:solidFill>
              </a:rPr>
              <a:t>Version 1 remains a lightweight option for low-resource systems.</a:t>
            </a:r>
            <a:endParaRPr lang="en-US" sz="2000" dirty="0"/>
          </a:p>
        </p:txBody>
      </p:sp>
      <p:sp>
        <p:nvSpPr>
          <p:cNvPr id="6" name="Stat card"/>
          <p:cNvSpPr/>
          <p:nvPr/>
        </p:nvSpPr>
        <p:spPr>
          <a:xfrm>
            <a:off x="6675120" y="1691640"/>
            <a:ext cx="2560320" cy="2103120"/>
          </a:xfrm>
          <a:prstGeom prst="roundRect">
            <a:avLst>
              <a:gd name="adj" fmla="val 4348"/>
            </a:avLst>
          </a:prstGeom>
          <a:solidFill>
            <a:srgbClr val="1A4731"/>
          </a:solidFill>
          <a:ln/>
        </p:spPr>
      </p:sp>
      <p:sp>
        <p:nvSpPr>
          <p:cNvPr id="7" name="Stat number"/>
          <p:cNvSpPr txBox="1"/>
          <p:nvPr/>
        </p:nvSpPr>
        <p:spPr>
          <a:xfrm>
            <a:off x="6675120" y="1920240"/>
            <a:ext cx="2560320" cy="1005840"/>
          </a:xfrm>
          <a:prstGeom prst="rect">
            <a:avLst/>
          </a:prstGeom>
          <a:noFill/>
          <a:ln/>
        </p:spPr>
        <p:txBody>
          <a:bodyPr wrap="square" lIns="0" tIns="0" rIns="0" bIns="0" rtlCol="0" anchor="ctr"/>
          <a:lstStyle/>
          <a:p>
            <a:pPr algn="ctr" indent="0" marL="0">
              <a:buNone/>
            </a:pPr>
            <a:r>
              <a:rPr lang="en-US" sz="5400" b="1" dirty="0">
                <a:solidFill>
                  <a:schemeClr val="accent6"/>
                </a:solidFill>
                <a:latin typeface="Cambria" pitchFamily="34" charset="0"/>
                <a:ea typeface="Cambria" pitchFamily="34" charset="-122"/>
                <a:cs typeface="Cambria" pitchFamily="34" charset="-120"/>
              </a:rPr>
              <a:t>5</a:t>
            </a:r>
            <a:endParaRPr lang="en-US" sz="5400" dirty="0"/>
          </a:p>
        </p:txBody>
      </p:sp>
      <p:sp>
        <p:nvSpPr>
          <p:cNvPr id="8" name="Stat label"/>
          <p:cNvSpPr txBox="1"/>
          <p:nvPr/>
        </p:nvSpPr>
        <p:spPr>
          <a:xfrm>
            <a:off x="6858000" y="2971800"/>
            <a:ext cx="2194560" cy="640080"/>
          </a:xfrm>
          <a:prstGeom prst="rect">
            <a:avLst/>
          </a:prstGeom>
          <a:noFill/>
          <a:ln/>
        </p:spPr>
        <p:txBody>
          <a:bodyPr wrap="square" lIns="0" tIns="0" rIns="0" bIns="0" rtlCol="0" anchor="t"/>
          <a:lstStyle/>
          <a:p>
            <a:pPr algn="ctr" indent="0" marL="0">
              <a:buNone/>
            </a:pPr>
            <a:r>
              <a:rPr lang="en-US" sz="1400" dirty="0">
                <a:solidFill>
                  <a:schemeClr val="bg1"/>
                </a:solidFill>
              </a:rPr>
              <a:t>directions classified</a:t>
            </a:r>
            <a:endParaRPr lang="en-US" sz="1400" dirty="0"/>
          </a:p>
        </p:txBody>
      </p:sp>
      <p:sp>
        <p:nvSpPr>
          <p:cNvPr id="9" name="Stat card"/>
          <p:cNvSpPr/>
          <p:nvPr/>
        </p:nvSpPr>
        <p:spPr>
          <a:xfrm>
            <a:off x="9418320" y="1691640"/>
            <a:ext cx="2560320" cy="2103120"/>
          </a:xfrm>
          <a:prstGeom prst="roundRect">
            <a:avLst>
              <a:gd name="adj" fmla="val 4348"/>
            </a:avLst>
          </a:prstGeom>
          <a:solidFill>
            <a:srgbClr val="F3EBD8"/>
          </a:solidFill>
          <a:ln/>
        </p:spPr>
      </p:sp>
      <p:sp>
        <p:nvSpPr>
          <p:cNvPr id="10" name="Stat number"/>
          <p:cNvSpPr txBox="1"/>
          <p:nvPr/>
        </p:nvSpPr>
        <p:spPr>
          <a:xfrm>
            <a:off x="9418320" y="1920240"/>
            <a:ext cx="2560320" cy="1005840"/>
          </a:xfrm>
          <a:prstGeom prst="rect">
            <a:avLst/>
          </a:prstGeom>
          <a:noFill/>
          <a:ln/>
        </p:spPr>
        <p:txBody>
          <a:bodyPr wrap="square" lIns="0" tIns="0" rIns="0" bIns="0" rtlCol="0" anchor="ctr"/>
          <a:lstStyle/>
          <a:p>
            <a:pPr algn="ctr" indent="0" marL="0">
              <a:buNone/>
            </a:pPr>
            <a:r>
              <a:rPr lang="en-US" sz="5400" b="1" dirty="0">
                <a:solidFill>
                  <a:schemeClr val="tx2"/>
                </a:solidFill>
                <a:latin typeface="Cambria" pitchFamily="34" charset="0"/>
                <a:ea typeface="Cambria" pitchFamily="34" charset="-122"/>
                <a:cs typeface="Cambria" pitchFamily="34" charset="-120"/>
              </a:rPr>
              <a:t>45</a:t>
            </a:r>
            <a:endParaRPr lang="en-US" sz="5400" dirty="0"/>
          </a:p>
        </p:txBody>
      </p:sp>
      <p:sp>
        <p:nvSpPr>
          <p:cNvPr id="11" name="Stat label"/>
          <p:cNvSpPr txBox="1"/>
          <p:nvPr/>
        </p:nvSpPr>
        <p:spPr>
          <a:xfrm>
            <a:off x="9601200" y="2971800"/>
            <a:ext cx="2194560" cy="640080"/>
          </a:xfrm>
          <a:prstGeom prst="rect">
            <a:avLst/>
          </a:prstGeom>
          <a:noFill/>
          <a:ln/>
        </p:spPr>
        <p:txBody>
          <a:bodyPr wrap="square" lIns="0" tIns="0" rIns="0" bIns="0" rtlCol="0" anchor="t"/>
          <a:lstStyle/>
          <a:p>
            <a:pPr algn="ctr" indent="0" marL="0">
              <a:buNone/>
            </a:pPr>
            <a:r>
              <a:rPr lang="en-US" sz="1400" dirty="0">
                <a:solidFill>
                  <a:schemeClr val="tx1"/>
                </a:solidFill>
              </a:rPr>
              <a:t>frames of occlusion buffer</a:t>
            </a:r>
            <a:endParaRPr lang="en-US" sz="1400" dirty="0"/>
          </a:p>
        </p:txBody>
      </p:sp>
      <p:sp>
        <p:nvSpPr>
          <p:cNvPr id="12" name="Stat card"/>
          <p:cNvSpPr/>
          <p:nvPr/>
        </p:nvSpPr>
        <p:spPr>
          <a:xfrm>
            <a:off x="6675120" y="3977640"/>
            <a:ext cx="2560320" cy="2103120"/>
          </a:xfrm>
          <a:prstGeom prst="roundRect">
            <a:avLst>
              <a:gd name="adj" fmla="val 4348"/>
            </a:avLst>
          </a:prstGeom>
          <a:solidFill>
            <a:srgbClr val="F3EBD8"/>
          </a:solidFill>
          <a:ln/>
        </p:spPr>
      </p:sp>
      <p:sp>
        <p:nvSpPr>
          <p:cNvPr id="13" name="Stat number"/>
          <p:cNvSpPr txBox="1"/>
          <p:nvPr/>
        </p:nvSpPr>
        <p:spPr>
          <a:xfrm>
            <a:off x="6675120" y="4206240"/>
            <a:ext cx="2560320" cy="1005840"/>
          </a:xfrm>
          <a:prstGeom prst="rect">
            <a:avLst/>
          </a:prstGeom>
          <a:noFill/>
          <a:ln/>
        </p:spPr>
        <p:txBody>
          <a:bodyPr wrap="square" lIns="0" tIns="0" rIns="0" bIns="0" rtlCol="0" anchor="ctr"/>
          <a:lstStyle/>
          <a:p>
            <a:pPr algn="ctr" indent="0" marL="0">
              <a:buNone/>
            </a:pPr>
            <a:r>
              <a:rPr lang="en-US" sz="5400" b="1" dirty="0">
                <a:solidFill>
                  <a:schemeClr val="tx2"/>
                </a:solidFill>
                <a:latin typeface="Cambria" pitchFamily="34" charset="0"/>
                <a:ea typeface="Cambria" pitchFamily="34" charset="-122"/>
                <a:cs typeface="Cambria" pitchFamily="34" charset="-120"/>
              </a:rPr>
              <a:t>2 s</a:t>
            </a:r>
            <a:endParaRPr lang="en-US" sz="5400" dirty="0"/>
          </a:p>
        </p:txBody>
      </p:sp>
      <p:sp>
        <p:nvSpPr>
          <p:cNvPr id="14" name="Stat label"/>
          <p:cNvSpPr txBox="1"/>
          <p:nvPr/>
        </p:nvSpPr>
        <p:spPr>
          <a:xfrm>
            <a:off x="6858000" y="5257800"/>
            <a:ext cx="2194560" cy="640080"/>
          </a:xfrm>
          <a:prstGeom prst="rect">
            <a:avLst/>
          </a:prstGeom>
          <a:noFill/>
          <a:ln/>
        </p:spPr>
        <p:txBody>
          <a:bodyPr wrap="square" lIns="0" tIns="0" rIns="0" bIns="0" rtlCol="0" anchor="t"/>
          <a:lstStyle/>
          <a:p>
            <a:pPr algn="ctr" indent="0" marL="0">
              <a:buNone/>
            </a:pPr>
            <a:r>
              <a:rPr lang="en-US" sz="1400" dirty="0">
                <a:solidFill>
                  <a:schemeClr val="tx1"/>
                </a:solidFill>
              </a:rPr>
              <a:t>noise filter for reports</a:t>
            </a:r>
            <a:endParaRPr lang="en-US" sz="1400" dirty="0"/>
          </a:p>
        </p:txBody>
      </p:sp>
      <p:sp>
        <p:nvSpPr>
          <p:cNvPr id="15" name="Stat card"/>
          <p:cNvSpPr/>
          <p:nvPr/>
        </p:nvSpPr>
        <p:spPr>
          <a:xfrm>
            <a:off x="9418320" y="3977640"/>
            <a:ext cx="2560320" cy="2103120"/>
          </a:xfrm>
          <a:prstGeom prst="roundRect">
            <a:avLst>
              <a:gd name="adj" fmla="val 4348"/>
            </a:avLst>
          </a:prstGeom>
          <a:solidFill>
            <a:srgbClr val="1A4731"/>
          </a:solidFill>
          <a:ln/>
        </p:spPr>
      </p:sp>
      <p:sp>
        <p:nvSpPr>
          <p:cNvPr id="16" name="Stat number"/>
          <p:cNvSpPr txBox="1"/>
          <p:nvPr/>
        </p:nvSpPr>
        <p:spPr>
          <a:xfrm>
            <a:off x="9418320" y="4206240"/>
            <a:ext cx="2560320" cy="1005840"/>
          </a:xfrm>
          <a:prstGeom prst="rect">
            <a:avLst/>
          </a:prstGeom>
          <a:noFill/>
          <a:ln/>
        </p:spPr>
        <p:txBody>
          <a:bodyPr wrap="square" lIns="0" tIns="0" rIns="0" bIns="0" rtlCol="0" anchor="ctr"/>
          <a:lstStyle/>
          <a:p>
            <a:pPr algn="ctr" indent="0" marL="0">
              <a:buNone/>
            </a:pPr>
            <a:r>
              <a:rPr lang="en-US" sz="5400" b="1" dirty="0">
                <a:solidFill>
                  <a:schemeClr val="accent6"/>
                </a:solidFill>
                <a:latin typeface="Cambria" pitchFamily="34" charset="0"/>
                <a:ea typeface="Cambria" pitchFamily="34" charset="-122"/>
                <a:cs typeface="Cambria" pitchFamily="34" charset="-120"/>
              </a:rPr>
              <a:t>2</a:t>
            </a:r>
            <a:endParaRPr lang="en-US" sz="5400" dirty="0"/>
          </a:p>
        </p:txBody>
      </p:sp>
      <p:sp>
        <p:nvSpPr>
          <p:cNvPr id="17" name="Stat label"/>
          <p:cNvSpPr txBox="1"/>
          <p:nvPr/>
        </p:nvSpPr>
        <p:spPr>
          <a:xfrm>
            <a:off x="9601200" y="5257800"/>
            <a:ext cx="2194560" cy="640080"/>
          </a:xfrm>
          <a:prstGeom prst="rect">
            <a:avLst/>
          </a:prstGeom>
          <a:noFill/>
          <a:ln/>
        </p:spPr>
        <p:txBody>
          <a:bodyPr wrap="square" lIns="0" tIns="0" rIns="0" bIns="0" rtlCol="0" anchor="t"/>
          <a:lstStyle/>
          <a:p>
            <a:pPr algn="ctr" indent="0" marL="0">
              <a:buNone/>
            </a:pPr>
            <a:r>
              <a:rPr lang="en-US" sz="1400" dirty="0">
                <a:solidFill>
                  <a:schemeClr val="bg1"/>
                </a:solidFill>
              </a:rPr>
              <a:t>versions built</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References</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SOURCES</a:t>
            </a:r>
            <a:endParaRPr lang="en-US" sz="1200" dirty="0"/>
          </a:p>
        </p:txBody>
      </p:sp>
      <p:sp>
        <p:nvSpPr>
          <p:cNvPr id="5" name="Reference list"/>
          <p:cNvSpPr txBox="1"/>
          <p:nvPr/>
        </p:nvSpPr>
        <p:spPr>
          <a:xfrm>
            <a:off x="548640" y="1691640"/>
            <a:ext cx="11064240" cy="448056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[1]  G. Bradski, "The OpenCV Library," Dr. Dobb's Journal of Software Tools, 2000.</a:t>
            </a:r>
            <a:endParaRPr lang="en-US" sz="1600" dirty="0"/>
          </a:p>
          <a:p>
            <a:pPr indent="0" marL="0">
              <a:spcAft>
                <a:spcPts val="1200"/>
              </a:spcAft>
              <a:buNone/>
            </a:pPr>
            <a:r>
              <a:rPr lang="en-US" sz="1600" dirty="0">
                <a:solidFill>
                  <a:schemeClr val="tx1"/>
                </a:solidFill>
              </a:rPr>
              <a:t>[2]  P. Viola and M. Jones, "Rapid object detection using a boosted cascade of simple features," Proc. IEEE CVPR, 2001.</a:t>
            </a:r>
            <a:endParaRPr lang="en-US" sz="1600" dirty="0"/>
          </a:p>
          <a:p>
            <a:pPr indent="0" marL="0">
              <a:spcAft>
                <a:spcPts val="1200"/>
              </a:spcAft>
              <a:buNone/>
            </a:pPr>
            <a:r>
              <a:rPr lang="en-US" sz="1600" dirty="0">
                <a:solidFill>
                  <a:schemeClr val="tx1"/>
                </a:solidFill>
              </a:rPr>
              <a:t>[3]  V. Bazarevsky et al., "BlazeFace: Sub-millisecond neural face detection on mobile GPUs," arXiv:1907.05047, 2019.</a:t>
            </a:r>
            <a:endParaRPr lang="en-US" sz="1600" dirty="0"/>
          </a:p>
          <a:p>
            <a:pPr indent="0" marL="0">
              <a:spcAft>
                <a:spcPts val="1200"/>
              </a:spcAft>
              <a:buNone/>
            </a:pPr>
            <a:r>
              <a:rPr lang="en-US" sz="1600" dirty="0">
                <a:solidFill>
                  <a:schemeClr val="tx1"/>
                </a:solidFill>
              </a:rPr>
              <a:t>[4]  R. E. Kalman, "A new approach to linear filtering and prediction problems," Journal of Basic Engineering, vol. 82, no. 1, 1960.</a:t>
            </a:r>
            <a:endParaRPr lang="en-US" sz="1600" dirty="0"/>
          </a:p>
          <a:p>
            <a:pPr indent="0" marL="0">
              <a:spcAft>
                <a:spcPts val="1200"/>
              </a:spcAft>
              <a:buNone/>
            </a:pPr>
            <a:r>
              <a:rPr lang="en-US" sz="1600" dirty="0">
                <a:solidFill>
                  <a:schemeClr val="tx1"/>
                </a:solidFill>
              </a:rPr>
              <a:t>[5]  C. R. Harris et al., "Array programming with NumPy," Nature, vol. 585, 2020.</a:t>
            </a:r>
            <a:endParaRPr lang="en-US" sz="1600" dirty="0"/>
          </a:p>
          <a:p>
            <a:pPr indent="0" marL="0">
              <a:spcAft>
                <a:spcPts val="1200"/>
              </a:spcAft>
              <a:buNone/>
            </a:pPr>
            <a:r>
              <a:rPr lang="en-US" sz="1600" dirty="0">
                <a:solidFill>
                  <a:schemeClr val="tx1"/>
                </a:solidFill>
              </a:rPr>
              <a:t>[6]  J. D. Hunter, "Matplotlib: A 2D graphics environment," Computing in Science &amp; Engineering, vol. 9, no. 3, 2007.</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title" hasCustomPrompt="1"/>
          </p:nvPr>
        </p:nvSpPr>
        <p:spPr>
          <a:xfrm>
            <a:off x="548640" y="2194560"/>
            <a:ext cx="6766560" cy="1188720"/>
          </a:xfrm>
          <a:prstGeom prst="rect">
            <a:avLst/>
          </a:prstGeom>
          <a:noFill/>
          <a:ln/>
        </p:spPr>
        <p:txBody>
          <a:bodyPr wrap="square" lIns="0" tIns="0" rIns="0" bIns="0" rtlCol="0" anchor="t"/>
          <a:lstStyle/>
          <a:p>
            <a:pPr algn="l" indent="0" marL="0">
              <a:buNone/>
            </a:pPr>
            <a:r>
              <a:rPr lang="en-US" sz="6000" b="1" dirty="0">
                <a:solidFill>
                  <a:schemeClr val="bg1"/>
                </a:solidFill>
              </a:rPr>
              <a:t>Thank You</a:t>
            </a:r>
            <a:endParaRPr lang="en-US" sz="6000" dirty="0"/>
          </a:p>
        </p:txBody>
      </p:sp>
      <p:sp>
        <p:nvSpPr>
          <p:cNvPr id="3" name="Questions"/>
          <p:cNvSpPr txBox="1"/>
          <p:nvPr/>
        </p:nvSpPr>
        <p:spPr>
          <a:xfrm>
            <a:off x="548640" y="3474720"/>
            <a:ext cx="6766560" cy="548640"/>
          </a:xfrm>
          <a:prstGeom prst="rect">
            <a:avLst/>
          </a:prstGeom>
          <a:noFill/>
          <a:ln/>
        </p:spPr>
        <p:txBody>
          <a:bodyPr wrap="square" lIns="0" tIns="0" rIns="0" bIns="0" rtlCol="0" anchor="ctr"/>
          <a:lstStyle/>
          <a:p>
            <a:pPr indent="0" marL="0">
              <a:buNone/>
            </a:pPr>
            <a:r>
              <a:rPr lang="en-US" sz="2800" dirty="0">
                <a:solidFill>
                  <a:schemeClr val="accent6"/>
                </a:solidFill>
                <a:latin typeface="Cambria" pitchFamily="34" charset="0"/>
                <a:ea typeface="Cambria" pitchFamily="34" charset="-122"/>
                <a:cs typeface="Cambria" pitchFamily="34" charset="-120"/>
              </a:rPr>
              <a:t>Questions?</a:t>
            </a:r>
            <a:endParaRPr lang="en-US" sz="2800" dirty="0"/>
          </a:p>
        </p:txBody>
      </p:sp>
      <p:sp>
        <p:nvSpPr>
          <p:cNvPr id="4" name="Author block"/>
          <p:cNvSpPr txBox="1"/>
          <p:nvPr/>
        </p:nvSpPr>
        <p:spPr>
          <a:xfrm>
            <a:off x="548640" y="4572000"/>
            <a:ext cx="6766560" cy="109728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Chatanya Gupta  ·  Roll No. 2024A1R189</a:t>
            </a:r>
            <a:endParaRPr lang="en-US" sz="1400" dirty="0"/>
          </a:p>
          <a:p>
            <a:pPr indent="0" marL="0">
              <a:spcAft>
                <a:spcPts val="300"/>
              </a:spcAft>
              <a:buNone/>
            </a:pPr>
            <a:r>
              <a:rPr lang="en-US" sz="1400" b="1" dirty="0">
                <a:solidFill>
                  <a:schemeClr val="bg1"/>
                </a:solidFill>
              </a:rPr>
              <a:t>Ankush Dev Singh  ·  Roll No. 224A1R030</a:t>
            </a:r>
            <a:endParaRPr lang="en-US" sz="1400" dirty="0"/>
          </a:p>
          <a:p>
            <a:pPr indent="0" marL="0">
              <a:spcAft>
                <a:spcPts val="300"/>
              </a:spcAft>
              <a:buNone/>
            </a:pPr>
            <a:r>
              <a:rPr lang="en-US" sz="1400" dirty="0">
                <a:solidFill>
                  <a:schemeClr val="bg2"/>
                </a:solidFill>
              </a:rPr>
              <a:t>B.Tech CSE, Model Institute of Engineering and Technology, Jammu</a:t>
            </a:r>
            <a:endParaRPr lang="en-US" sz="1400" dirty="0"/>
          </a:p>
        </p:txBody>
      </p:sp>
      <p:sp>
        <p:nvSpPr>
          <p:cNvPr id="5" name="Face outline"/>
          <p:cNvSpPr/>
          <p:nvPr/>
        </p:nvSpPr>
        <p:spPr>
          <a:xfrm>
            <a:off x="8458200" y="2286000"/>
            <a:ext cx="1737360" cy="2194560"/>
          </a:xfrm>
          <a:prstGeom prst="ellipse">
            <a:avLst/>
          </a:prstGeom>
          <a:solidFill>
            <a:schemeClr val="accent4"/>
          </a:solidFill>
          <a:ln w="19050">
            <a:solidFill>
              <a:schemeClr val="accent6"/>
            </a:solidFill>
            <a:prstDash val="solid"/>
          </a:ln>
        </p:spPr>
      </p:sp>
      <p:sp>
        <p:nvSpPr>
          <p:cNvPr id="6" name="Eye"/>
          <p:cNvSpPr/>
          <p:nvPr/>
        </p:nvSpPr>
        <p:spPr>
          <a:xfrm>
            <a:off x="8860536" y="2935224"/>
            <a:ext cx="164592" cy="164592"/>
          </a:xfrm>
          <a:prstGeom prst="ellipse">
            <a:avLst/>
          </a:prstGeom>
          <a:solidFill>
            <a:schemeClr val="bg2"/>
          </a:solidFill>
          <a:ln/>
        </p:spPr>
      </p:sp>
      <p:sp>
        <p:nvSpPr>
          <p:cNvPr id="7" name="Eye"/>
          <p:cNvSpPr/>
          <p:nvPr/>
        </p:nvSpPr>
        <p:spPr>
          <a:xfrm>
            <a:off x="9628632" y="2935224"/>
            <a:ext cx="164592" cy="164592"/>
          </a:xfrm>
          <a:prstGeom prst="ellipse">
            <a:avLst/>
          </a:prstGeom>
          <a:solidFill>
            <a:schemeClr val="bg2"/>
          </a:solidFill>
          <a:ln/>
        </p:spPr>
      </p:sp>
      <p:sp>
        <p:nvSpPr>
          <p:cNvPr id="8" name="Nose keypoint"/>
          <p:cNvSpPr/>
          <p:nvPr/>
        </p:nvSpPr>
        <p:spPr>
          <a:xfrm>
            <a:off x="9235440" y="3429000"/>
            <a:ext cx="182880" cy="182880"/>
          </a:xfrm>
          <a:prstGeom prst="ellipse">
            <a:avLst/>
          </a:prstGeom>
          <a:solidFill>
            <a:schemeClr val="accent2"/>
          </a:solidFill>
          <a:ln/>
        </p:spPr>
      </p:sp>
      <p:sp>
        <p:nvSpPr>
          <p:cNvPr id="9" name="Frame corner"/>
          <p:cNvSpPr/>
          <p:nvPr/>
        </p:nvSpPr>
        <p:spPr>
          <a:xfrm>
            <a:off x="7955280" y="2011680"/>
            <a:ext cx="548640" cy="0"/>
          </a:xfrm>
          <a:prstGeom prst="line">
            <a:avLst/>
          </a:prstGeom>
          <a:noFill/>
          <a:ln w="38100">
            <a:solidFill>
              <a:schemeClr val="accent6"/>
            </a:solidFill>
            <a:prstDash val="solid"/>
          </a:ln>
        </p:spPr>
      </p:sp>
      <p:sp>
        <p:nvSpPr>
          <p:cNvPr id="10" name="Frame corner"/>
          <p:cNvSpPr/>
          <p:nvPr/>
        </p:nvSpPr>
        <p:spPr>
          <a:xfrm>
            <a:off x="7955280" y="2011680"/>
            <a:ext cx="0" cy="548640"/>
          </a:xfrm>
          <a:prstGeom prst="line">
            <a:avLst/>
          </a:prstGeom>
          <a:noFill/>
          <a:ln w="38100">
            <a:solidFill>
              <a:schemeClr val="accent6"/>
            </a:solidFill>
            <a:prstDash val="solid"/>
          </a:ln>
        </p:spPr>
      </p:sp>
      <p:sp>
        <p:nvSpPr>
          <p:cNvPr id="11" name="Frame corner"/>
          <p:cNvSpPr/>
          <p:nvPr/>
        </p:nvSpPr>
        <p:spPr>
          <a:xfrm>
            <a:off x="10149840" y="2011680"/>
            <a:ext cx="548640" cy="0"/>
          </a:xfrm>
          <a:prstGeom prst="line">
            <a:avLst/>
          </a:prstGeom>
          <a:noFill/>
          <a:ln w="38100">
            <a:solidFill>
              <a:schemeClr val="accent6"/>
            </a:solidFill>
            <a:prstDash val="solid"/>
          </a:ln>
        </p:spPr>
      </p:sp>
      <p:sp>
        <p:nvSpPr>
          <p:cNvPr id="12" name="Frame corner"/>
          <p:cNvSpPr/>
          <p:nvPr/>
        </p:nvSpPr>
        <p:spPr>
          <a:xfrm>
            <a:off x="10698480" y="2011680"/>
            <a:ext cx="0" cy="548640"/>
          </a:xfrm>
          <a:prstGeom prst="line">
            <a:avLst/>
          </a:prstGeom>
          <a:noFill/>
          <a:ln w="38100">
            <a:solidFill>
              <a:schemeClr val="accent6"/>
            </a:solidFill>
            <a:prstDash val="solid"/>
          </a:ln>
        </p:spPr>
      </p:sp>
      <p:sp>
        <p:nvSpPr>
          <p:cNvPr id="13" name="Frame corner"/>
          <p:cNvSpPr/>
          <p:nvPr/>
        </p:nvSpPr>
        <p:spPr>
          <a:xfrm>
            <a:off x="7955280" y="4754880"/>
            <a:ext cx="548640" cy="0"/>
          </a:xfrm>
          <a:prstGeom prst="line">
            <a:avLst/>
          </a:prstGeom>
          <a:noFill/>
          <a:ln w="38100">
            <a:solidFill>
              <a:schemeClr val="accent6"/>
            </a:solidFill>
            <a:prstDash val="solid"/>
          </a:ln>
        </p:spPr>
      </p:sp>
      <p:sp>
        <p:nvSpPr>
          <p:cNvPr id="14" name="Frame corner"/>
          <p:cNvSpPr/>
          <p:nvPr/>
        </p:nvSpPr>
        <p:spPr>
          <a:xfrm>
            <a:off x="7955280" y="4206240"/>
            <a:ext cx="0" cy="548640"/>
          </a:xfrm>
          <a:prstGeom prst="line">
            <a:avLst/>
          </a:prstGeom>
          <a:noFill/>
          <a:ln w="38100">
            <a:solidFill>
              <a:schemeClr val="accent6"/>
            </a:solidFill>
            <a:prstDash val="solid"/>
          </a:ln>
        </p:spPr>
      </p:sp>
      <p:sp>
        <p:nvSpPr>
          <p:cNvPr id="15" name="Frame corner"/>
          <p:cNvSpPr/>
          <p:nvPr/>
        </p:nvSpPr>
        <p:spPr>
          <a:xfrm>
            <a:off x="10149840" y="4754880"/>
            <a:ext cx="548640" cy="0"/>
          </a:xfrm>
          <a:prstGeom prst="line">
            <a:avLst/>
          </a:prstGeom>
          <a:noFill/>
          <a:ln w="38100">
            <a:solidFill>
              <a:schemeClr val="accent6"/>
            </a:solidFill>
            <a:prstDash val="solid"/>
          </a:ln>
        </p:spPr>
      </p:sp>
      <p:sp>
        <p:nvSpPr>
          <p:cNvPr id="16" name="Frame corner"/>
          <p:cNvSpPr/>
          <p:nvPr/>
        </p:nvSpPr>
        <p:spPr>
          <a:xfrm>
            <a:off x="10698480" y="4206240"/>
            <a:ext cx="0" cy="548640"/>
          </a:xfrm>
          <a:prstGeom prst="line">
            <a:avLst/>
          </a:prstGeom>
          <a:noFill/>
          <a:ln w="38100">
            <a:solidFill>
              <a:schemeClr val="accent6"/>
            </a:solidFill>
            <a:prstDash val="solid"/>
          </a:ln>
        </p:spPr>
      </p:sp>
      <p:sp>
        <p:nvSpPr>
          <p:cNvPr id="17" name="Direction label"/>
          <p:cNvSpPr txBox="1"/>
          <p:nvPr/>
        </p:nvSpPr>
        <p:spPr>
          <a:xfrm>
            <a:off x="8869680" y="1554480"/>
            <a:ext cx="914400" cy="274320"/>
          </a:xfrm>
          <a:prstGeom prst="rect">
            <a:avLst/>
          </a:prstGeom>
          <a:noFill/>
          <a:ln/>
        </p:spPr>
        <p:txBody>
          <a:bodyPr wrap="square" lIns="0" tIns="0" rIns="0" bIns="0" rtlCol="0" anchor="ctr"/>
          <a:lstStyle/>
          <a:p>
            <a:pPr algn="ctr" indent="0" marL="0">
              <a:buNone/>
            </a:pPr>
            <a:r>
              <a:rPr lang="en-US" sz="1200" b="1" dirty="0">
                <a:solidFill>
                  <a:schemeClr val="accent6"/>
                </a:solidFill>
              </a:rPr>
              <a:t>UP</a:t>
            </a:r>
            <a:endParaRPr lang="en-US" sz="1200" dirty="0"/>
          </a:p>
        </p:txBody>
      </p:sp>
      <p:sp>
        <p:nvSpPr>
          <p:cNvPr id="18" name="Direction label"/>
          <p:cNvSpPr txBox="1"/>
          <p:nvPr/>
        </p:nvSpPr>
        <p:spPr>
          <a:xfrm>
            <a:off x="8869680" y="4937760"/>
            <a:ext cx="914400" cy="274320"/>
          </a:xfrm>
          <a:prstGeom prst="rect">
            <a:avLst/>
          </a:prstGeom>
          <a:noFill/>
          <a:ln/>
        </p:spPr>
        <p:txBody>
          <a:bodyPr wrap="square" lIns="0" tIns="0" rIns="0" bIns="0" rtlCol="0" anchor="ctr"/>
          <a:lstStyle/>
          <a:p>
            <a:pPr algn="ctr" indent="0" marL="0">
              <a:buNone/>
            </a:pPr>
            <a:r>
              <a:rPr lang="en-US" sz="1200" b="1" dirty="0">
                <a:solidFill>
                  <a:schemeClr val="accent6"/>
                </a:solidFill>
              </a:rPr>
              <a:t>DOWN</a:t>
            </a:r>
            <a:endParaRPr lang="en-US" sz="1200" dirty="0"/>
          </a:p>
        </p:txBody>
      </p:sp>
      <p:sp>
        <p:nvSpPr>
          <p:cNvPr id="19" name="Direction label"/>
          <p:cNvSpPr txBox="1"/>
          <p:nvPr/>
        </p:nvSpPr>
        <p:spPr>
          <a:xfrm>
            <a:off x="6995160" y="3246120"/>
            <a:ext cx="914400" cy="274320"/>
          </a:xfrm>
          <a:prstGeom prst="rect">
            <a:avLst/>
          </a:prstGeom>
          <a:noFill/>
          <a:ln/>
        </p:spPr>
        <p:txBody>
          <a:bodyPr wrap="square" lIns="0" tIns="0" rIns="0" bIns="0" rtlCol="0" anchor="ctr"/>
          <a:lstStyle/>
          <a:p>
            <a:pPr algn="ctr" indent="0" marL="0">
              <a:buNone/>
            </a:pPr>
            <a:r>
              <a:rPr lang="en-US" sz="1200" b="1" dirty="0">
                <a:solidFill>
                  <a:schemeClr val="accent6"/>
                </a:solidFill>
              </a:rPr>
              <a:t>LEFT</a:t>
            </a:r>
            <a:endParaRPr lang="en-US" sz="1200" dirty="0"/>
          </a:p>
        </p:txBody>
      </p:sp>
      <p:sp>
        <p:nvSpPr>
          <p:cNvPr id="20" name="Direction label"/>
          <p:cNvSpPr txBox="1"/>
          <p:nvPr/>
        </p:nvSpPr>
        <p:spPr>
          <a:xfrm>
            <a:off x="10744200" y="3246120"/>
            <a:ext cx="914400" cy="274320"/>
          </a:xfrm>
          <a:prstGeom prst="rect">
            <a:avLst/>
          </a:prstGeom>
          <a:noFill/>
          <a:ln/>
        </p:spPr>
        <p:txBody>
          <a:bodyPr wrap="square" lIns="0" tIns="0" rIns="0" bIns="0" rtlCol="0" anchor="ctr"/>
          <a:lstStyle/>
          <a:p>
            <a:pPr algn="ctr" indent="0" marL="0">
              <a:buNone/>
            </a:pPr>
            <a:r>
              <a:rPr lang="en-US" sz="1200" b="1" dirty="0">
                <a:solidFill>
                  <a:schemeClr val="accent6"/>
                </a:solidFill>
              </a:rPr>
              <a:t>RIGHT</a:t>
            </a:r>
            <a:endParaRPr lang="en-US" sz="1200" dirty="0"/>
          </a:p>
        </p:txBody>
      </p:sp>
    </p:spTree>
  </p:cSld>
  <p:clrMapOvr>
    <a:masterClrMapping/>
  </p:clrMapOvr>
</p:sld>
</file>

<file path=ppt/theme/theme1.xml><?xml version="1.0" encoding="utf-8"?>
<a:theme xmlns:a="http://schemas.openxmlformats.org/drawingml/2006/main" name="MDC Green Gold">
  <a:themeElements>
    <a:clrScheme name="MDC Green Gold">
      <a:dk1>
        <a:srgbClr val="222B26"/>
      </a:dk1>
      <a:lt1>
        <a:srgbClr val="FFFFFF"/>
      </a:lt1>
      <a:dk2>
        <a:srgbClr val="1A4731"/>
      </a:dk2>
      <a:lt2>
        <a:srgbClr val="F3EBD8"/>
      </a:lt2>
      <a:accent1>
        <a:srgbClr val="1A4731"/>
      </a:accent1>
      <a:accent2>
        <a:srgbClr val="B8923A"/>
      </a:accent2>
      <a:accent3>
        <a:srgbClr val="6B7570"/>
      </a:accent3>
      <a:accent4>
        <a:srgbClr val="2F6B4F"/>
      </a:accent4>
      <a:accent5>
        <a:srgbClr val="8C6D26"/>
      </a:accent5>
      <a:accent6>
        <a:srgbClr val="E3C77A"/>
      </a:accent6>
      <a:hlink>
        <a:srgbClr val="1A4731"/>
      </a:hlink>
      <a:folHlink>
        <a:srgbClr val="6B7570"/>
      </a:folHlink>
    </a:clrScheme>
    <a:fontScheme name="MDC Green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MDC Project - Face Tracking and Head Movement Detection</dc:title>
  <dc:subject>PptxGenJS Presentation</dc:subject>
  <dc:creator>Chatanya Gupta</dc:creator>
  <cp:lastModifiedBy>Chatanya Gupta</cp:lastModifiedBy>
  <cp:revision>1</cp:revision>
  <dcterms:created xsi:type="dcterms:W3CDTF">2026-10-22T07:23:23Z</dcterms:created>
  <dcterms:modified xsi:type="dcterms:W3CDTF">2026-10-22T07:23:23Z</dcterms:modified>
</cp:coreProperties>
</file>